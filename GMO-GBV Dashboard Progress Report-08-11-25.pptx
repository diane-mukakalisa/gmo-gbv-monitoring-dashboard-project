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3"/>
  </p:sldMasterIdLst>
  <p:notesMasterIdLst>
    <p:notesMasterId r:id="rId6"/>
  </p:notesMasterIdLst>
  <p:sldIdLst>
    <p:sldId id="274" r:id="rId4"/>
    <p:sldId id="257" r:id="rId5"/>
    <p:sldId id="264" r:id="rId7"/>
    <p:sldId id="266" r:id="rId8"/>
    <p:sldId id="268" r:id="rId9"/>
    <p:sldId id="269" r:id="rId10"/>
    <p:sldId id="267" r:id="rId11"/>
    <p:sldId id="275" r:id="rId12"/>
    <p:sldId id="270" r:id="rId13"/>
    <p:sldId id="260" r:id="rId14"/>
    <p:sldId id="261" r:id="rId15"/>
    <p:sldId id="262" r:id="rId16"/>
    <p:sldId id="272" r:id="rId17"/>
  </p:sldIdLst>
  <p:sldSz cx="10693400" cy="7556500"/>
  <p:notesSz cx="6858000" cy="9144000"/>
  <p:embeddedFontLst>
    <p:embeddedFont>
      <p:font typeface="Roboto" panose="02000000000000000000"/>
      <p:regular r:id="rId21"/>
    </p:embeddedFont>
    <p:embeddedFont>
      <p:font typeface="Verdana" panose="020B0604030504040204" pitchFamily="34" charset="0"/>
      <p:regular r:id="rId22"/>
      <p:bold r:id="rId23"/>
      <p:italic r:id="rId24"/>
      <p:boldItalic r:id="rId25"/>
    </p:embeddedFont>
    <p:embeddedFont>
      <p:font typeface="Calibri" panose="020F0502020204030204"/>
      <p:regular r:id="rId26"/>
      <p:bold r:id="rId27"/>
      <p:italic r:id="rId28"/>
      <p:boldItalic r:id="rId29"/>
    </p:embeddedFont>
    <p:embeddedFont>
      <p:font typeface="Trebuchet MS" panose="020B0603020202020204" pitchFamily="34" charset="0"/>
      <p:regular r:id="rId30"/>
      <p:bold r:id="rId31"/>
      <p:italic r:id="rId32"/>
      <p:boldItalic r:id="rId33"/>
    </p:embeddedFont>
    <p:embeddedFont>
      <p:font typeface="IBM Plex Sans" panose="020B0503050203000203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7" d="100"/>
          <a:sy n="67" d="100"/>
        </p:scale>
        <p:origin x="932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7" Type="http://schemas.openxmlformats.org/officeDocument/2006/relationships/font" Target="fonts/font17.fntdata"/><Relationship Id="rId36" Type="http://schemas.openxmlformats.org/officeDocument/2006/relationships/font" Target="fonts/font16.fntdata"/><Relationship Id="rId35" Type="http://schemas.openxmlformats.org/officeDocument/2006/relationships/font" Target="fonts/font15.fntdata"/><Relationship Id="rId34" Type="http://schemas.openxmlformats.org/officeDocument/2006/relationships/font" Target="fonts/font14.fntdata"/><Relationship Id="rId33" Type="http://schemas.openxmlformats.org/officeDocument/2006/relationships/font" Target="fonts/font13.fntdata"/><Relationship Id="rId32" Type="http://schemas.openxmlformats.org/officeDocument/2006/relationships/font" Target="fonts/font12.fntdata"/><Relationship Id="rId31" Type="http://schemas.openxmlformats.org/officeDocument/2006/relationships/font" Target="fonts/font11.fntdata"/><Relationship Id="rId30" Type="http://schemas.openxmlformats.org/officeDocument/2006/relationships/font" Target="fonts/font10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FDF2CC-7F7A-4EFF-B395-AF74A91C9DB4}" type="doc">
      <dgm:prSet loTypeId="urn:microsoft.com/office/officeart/2005/8/layout/lProcess2" loCatId="list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en-US"/>
        </a:p>
      </dgm:t>
    </dgm:pt>
    <dgm:pt modelId="{4E08BC4D-91C4-4693-B19C-FB45FCA73359}">
      <dgm:prSet phldrT="[Text]"/>
      <dgm:spPr/>
      <dgm:t>
        <a:bodyPr/>
        <a:lstStyle/>
        <a:p>
          <a:pPr rtl="0"/>
          <a:r>
            <a:rPr lang="en-US" b="1" i="0" u="none" strike="noStrike" cap="none" dirty="0" smtClean="0"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rPr>
            <a:t>Key takeaways</a:t>
          </a:r>
          <a:r>
            <a:rPr lang="en-US" b="0" i="0" u="none" strike="noStrike" cap="none" dirty="0" smtClean="0"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rPr>
            <a:t> </a:t>
          </a:r>
          <a:endParaRPr lang="en-US" dirty="0"/>
        </a:p>
      </dgm:t>
    </dgm:pt>
    <dgm:pt modelId="{5811B5E8-EB5B-489F-87E9-11CD3BCF4B1A}" cxnId="{4652049A-39AD-4343-9ECD-B87662C8B25E}" type="parTrans">
      <dgm:prSet/>
      <dgm:spPr/>
      <dgm:t>
        <a:bodyPr/>
        <a:lstStyle/>
        <a:p>
          <a:endParaRPr lang="en-US"/>
        </a:p>
      </dgm:t>
    </dgm:pt>
    <dgm:pt modelId="{B7918AB1-5A9F-4664-9C97-C5717CA9F0CD}" cxnId="{4652049A-39AD-4343-9ECD-B87662C8B25E}" type="sibTrans">
      <dgm:prSet/>
      <dgm:spPr/>
      <dgm:t>
        <a:bodyPr/>
        <a:lstStyle/>
        <a:p>
          <a:endParaRPr lang="en-US"/>
        </a:p>
      </dgm:t>
    </dgm:pt>
    <dgm:pt modelId="{23C6C7E8-833F-4809-9099-0B84DD717A43}">
      <dgm:prSet phldrT="[Text]"/>
      <dgm:spPr/>
      <dgm:t>
        <a:bodyPr/>
        <a:lstStyle/>
        <a:p>
          <a:r>
            <a:rPr lang="en-US" dirty="0" smtClean="0"/>
            <a:t>Data processing </a:t>
          </a:r>
          <a:r>
            <a:rPr lang="en-US" dirty="0" err="1" smtClean="0"/>
            <a:t>techiniques</a:t>
          </a:r>
          <a:endParaRPr lang="en-US" dirty="0"/>
        </a:p>
      </dgm:t>
    </dgm:pt>
    <dgm:pt modelId="{4C47F08E-9DC7-46F4-A146-EFB1B71F5EA1}" cxnId="{B7A3A857-E52B-444A-9112-A9076D571FF6}" type="parTrans">
      <dgm:prSet/>
      <dgm:spPr/>
      <dgm:t>
        <a:bodyPr/>
        <a:lstStyle/>
        <a:p>
          <a:endParaRPr lang="en-US"/>
        </a:p>
      </dgm:t>
    </dgm:pt>
    <dgm:pt modelId="{4156BAD9-4603-4733-93F0-AE1869318C16}" cxnId="{B7A3A857-E52B-444A-9112-A9076D571FF6}" type="sibTrans">
      <dgm:prSet/>
      <dgm:spPr/>
      <dgm:t>
        <a:bodyPr/>
        <a:lstStyle/>
        <a:p>
          <a:endParaRPr lang="en-US"/>
        </a:p>
      </dgm:t>
    </dgm:pt>
    <dgm:pt modelId="{B469CDAF-BA07-4C40-8A85-19B96B2806E6}">
      <dgm:prSet phldrT="[Text]"/>
      <dgm:spPr/>
      <dgm:t>
        <a:bodyPr/>
        <a:lstStyle/>
        <a:p>
          <a:pPr rtl="0"/>
          <a:r>
            <a:rPr lang="en-US" b="1" i="0" u="none" strike="noStrike" cap="none" smtClean="0"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rPr>
            <a:t>Recommendations</a:t>
          </a:r>
          <a:r>
            <a:rPr lang="en-US" b="0" i="0" u="none" strike="noStrike" cap="none" smtClean="0"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rPr>
            <a:t> </a:t>
          </a:r>
          <a:endParaRPr lang="en-US" dirty="0"/>
        </a:p>
      </dgm:t>
    </dgm:pt>
    <dgm:pt modelId="{FC2B0DE5-4831-4BC5-AD06-F57FCD7511D7}" cxnId="{D8D02C8E-0AF3-4EA8-9E6C-EDF0A0EE3E21}" type="parTrans">
      <dgm:prSet/>
      <dgm:spPr/>
      <dgm:t>
        <a:bodyPr/>
        <a:lstStyle/>
        <a:p>
          <a:endParaRPr lang="en-US"/>
        </a:p>
      </dgm:t>
    </dgm:pt>
    <dgm:pt modelId="{9EBA8801-F734-4A46-B1C7-EC4E193F6A03}" cxnId="{D8D02C8E-0AF3-4EA8-9E6C-EDF0A0EE3E21}" type="sibTrans">
      <dgm:prSet/>
      <dgm:spPr/>
      <dgm:t>
        <a:bodyPr/>
        <a:lstStyle/>
        <a:p>
          <a:endParaRPr lang="en-US"/>
        </a:p>
      </dgm:t>
    </dgm:pt>
    <dgm:pt modelId="{CDB97C63-807E-4A4D-9C22-362F80BFF1C0}">
      <dgm:prSet/>
      <dgm:spPr/>
      <dgm:t>
        <a:bodyPr/>
        <a:lstStyle/>
        <a:p>
          <a:r>
            <a:rPr lang="en-GB" dirty="0" smtClean="0"/>
            <a:t>Visual analytics help highlight hotspots and high-risk categories.</a:t>
          </a:r>
          <a:endParaRPr lang="en-GB" b="0" i="0" u="none" strike="noStrike" cap="none" dirty="0" smtClean="0">
            <a:latin typeface="IBM Plex Sans" panose="020B0503050203000203"/>
            <a:ea typeface="IBM Plex Sans" panose="020B0503050203000203"/>
            <a:cs typeface="IBM Plex Sans" panose="020B0503050203000203"/>
            <a:sym typeface="IBM Plex Sans" panose="020B0503050203000203"/>
          </a:endParaRPr>
        </a:p>
      </dgm:t>
    </dgm:pt>
    <dgm:pt modelId="{F4E712F9-C1AC-4C5F-9605-37508AFE51B4}" cxnId="{F2D34FE2-294A-48C2-A134-95017E36C41B}" type="parTrans">
      <dgm:prSet/>
      <dgm:spPr/>
      <dgm:t>
        <a:bodyPr/>
        <a:lstStyle/>
        <a:p>
          <a:endParaRPr lang="en-US"/>
        </a:p>
      </dgm:t>
    </dgm:pt>
    <dgm:pt modelId="{1D231032-4D04-41DC-9265-686F102F7A6A}" cxnId="{F2D34FE2-294A-48C2-A134-95017E36C41B}" type="sibTrans">
      <dgm:prSet/>
      <dgm:spPr/>
      <dgm:t>
        <a:bodyPr/>
        <a:lstStyle/>
        <a:p>
          <a:endParaRPr lang="en-US"/>
        </a:p>
      </dgm:t>
    </dgm:pt>
    <dgm:pt modelId="{FC0ECA42-004C-4BED-825F-715AB7E98AFB}">
      <dgm:prSet/>
      <dgm:spPr/>
      <dgm:t>
        <a:bodyPr/>
        <a:lstStyle/>
        <a:p>
          <a:r>
            <a:rPr lang="en-GB" dirty="0" smtClean="0"/>
            <a:t>Internal institutional adoption</a:t>
          </a:r>
          <a:endParaRPr lang="en-GB" dirty="0" smtClean="0"/>
        </a:p>
      </dgm:t>
    </dgm:pt>
    <dgm:pt modelId="{37C94A25-372C-41C8-9A09-C117629BCC1F}" cxnId="{DBC4FCB9-BF8F-464D-9915-1CB2E5E555A7}" type="parTrans">
      <dgm:prSet/>
      <dgm:spPr/>
      <dgm:t>
        <a:bodyPr/>
        <a:lstStyle/>
        <a:p>
          <a:endParaRPr lang="en-US"/>
        </a:p>
      </dgm:t>
    </dgm:pt>
    <dgm:pt modelId="{0C8BF8BA-0BDE-4AA9-B15A-D80E7B62D41D}" cxnId="{DBC4FCB9-BF8F-464D-9915-1CB2E5E555A7}" type="sibTrans">
      <dgm:prSet/>
      <dgm:spPr/>
      <dgm:t>
        <a:bodyPr/>
        <a:lstStyle/>
        <a:p>
          <a:endParaRPr lang="en-US"/>
        </a:p>
      </dgm:t>
    </dgm:pt>
    <dgm:pt modelId="{0C3AE43C-DE5D-49D8-B615-1802AB9FEB9F}">
      <dgm:prSet/>
      <dgm:spPr/>
      <dgm:t>
        <a:bodyPr/>
        <a:lstStyle/>
        <a:p>
          <a:r>
            <a:rPr lang="en-GB" smtClean="0"/>
            <a:t>Ensure regular maintenance and updates to keep data relevant</a:t>
          </a:r>
          <a:endParaRPr lang="en-US" b="0" i="0" u="none" strike="noStrike" cap="none" dirty="0">
            <a:latin typeface="IBM Plex Sans" panose="020B0503050203000203"/>
            <a:ea typeface="IBM Plex Sans" panose="020B0503050203000203"/>
            <a:cs typeface="IBM Plex Sans" panose="020B0503050203000203"/>
            <a:sym typeface="IBM Plex Sans" panose="020B0503050203000203"/>
          </a:endParaRPr>
        </a:p>
      </dgm:t>
    </dgm:pt>
    <dgm:pt modelId="{DB145DE0-F937-4F54-98A1-784BA1367384}" cxnId="{161CA106-7B39-4EE0-B6AE-BB3991C6D2D0}" type="parTrans">
      <dgm:prSet/>
      <dgm:spPr/>
      <dgm:t>
        <a:bodyPr/>
        <a:lstStyle/>
        <a:p>
          <a:endParaRPr lang="en-US"/>
        </a:p>
      </dgm:t>
    </dgm:pt>
    <dgm:pt modelId="{FC49C53F-D194-45CE-B401-4B414337355C}" cxnId="{161CA106-7B39-4EE0-B6AE-BB3991C6D2D0}" type="sibTrans">
      <dgm:prSet/>
      <dgm:spPr/>
      <dgm:t>
        <a:bodyPr/>
        <a:lstStyle/>
        <a:p>
          <a:endParaRPr lang="en-US"/>
        </a:p>
      </dgm:t>
    </dgm:pt>
    <dgm:pt modelId="{B71154DC-DA0F-447B-BD47-38A5B749921B}">
      <dgm:prSet/>
      <dgm:spPr/>
      <dgm:t>
        <a:bodyPr/>
        <a:lstStyle/>
        <a:p>
          <a:r>
            <a:rPr lang="en-GB" smtClean="0"/>
            <a:t>A centralized dashboard significantly improves visibility of GBV trends.</a:t>
          </a:r>
          <a:endParaRPr lang="en-US" dirty="0"/>
        </a:p>
      </dgm:t>
    </dgm:pt>
    <dgm:pt modelId="{B1ECA712-F987-4D84-B62D-4B5030A13E94}" cxnId="{AD6C0D85-C96E-446F-A1BD-AA783848099C}" type="parTrans">
      <dgm:prSet/>
      <dgm:spPr/>
      <dgm:t>
        <a:bodyPr/>
        <a:lstStyle/>
        <a:p>
          <a:endParaRPr lang="en-US"/>
        </a:p>
      </dgm:t>
    </dgm:pt>
    <dgm:pt modelId="{BC00F563-8D2E-4D96-8538-398CF1D3F3A4}" cxnId="{AD6C0D85-C96E-446F-A1BD-AA783848099C}" type="sibTrans">
      <dgm:prSet/>
      <dgm:spPr/>
      <dgm:t>
        <a:bodyPr/>
        <a:lstStyle/>
        <a:p>
          <a:endParaRPr lang="en-US"/>
        </a:p>
      </dgm:t>
    </dgm:pt>
    <dgm:pt modelId="{1D4B49D3-CA28-4EE7-BCB4-9CC4E03FCA47}">
      <dgm:prSet/>
      <dgm:spPr/>
      <dgm:t>
        <a:bodyPr/>
        <a:lstStyle/>
        <a:p>
          <a:r>
            <a:rPr lang="en-GB" dirty="0" smtClean="0"/>
            <a:t>Expand dashboard with additional datasets (e.g., justice outcomes</a:t>
          </a:r>
          <a:endParaRPr lang="en-GB" dirty="0" smtClean="0"/>
        </a:p>
      </dgm:t>
    </dgm:pt>
    <dgm:pt modelId="{2D5366DA-8FB5-45BC-8DFB-DF9E10157D64}" cxnId="{D03A29A6-9D39-4036-BF12-C56E0472E24C}" type="parTrans">
      <dgm:prSet/>
      <dgm:spPr/>
      <dgm:t>
        <a:bodyPr/>
        <a:lstStyle/>
        <a:p>
          <a:endParaRPr lang="en-US"/>
        </a:p>
      </dgm:t>
    </dgm:pt>
    <dgm:pt modelId="{6A7C9E5A-6BC2-4773-AC4A-618B86716C0B}" cxnId="{D03A29A6-9D39-4036-BF12-C56E0472E24C}" type="sibTrans">
      <dgm:prSet/>
      <dgm:spPr/>
      <dgm:t>
        <a:bodyPr/>
        <a:lstStyle/>
        <a:p>
          <a:endParaRPr lang="en-US"/>
        </a:p>
      </dgm:t>
    </dgm:pt>
    <dgm:pt modelId="{9F2882E6-A135-4C7D-A472-DB845179056A}" type="pres">
      <dgm:prSet presAssocID="{0CFDF2CC-7F7A-4EFF-B395-AF74A91C9DB4}" presName="theList" presStyleCnt="0">
        <dgm:presLayoutVars>
          <dgm:dir/>
          <dgm:animLvl val="lvl"/>
          <dgm:resizeHandles val="exact"/>
        </dgm:presLayoutVars>
      </dgm:prSet>
      <dgm:spPr/>
    </dgm:pt>
    <dgm:pt modelId="{461E45DE-A6CC-48C4-891E-54ED322765EB}" type="pres">
      <dgm:prSet presAssocID="{4E08BC4D-91C4-4693-B19C-FB45FCA73359}" presName="compNode" presStyleCnt="0"/>
      <dgm:spPr/>
    </dgm:pt>
    <dgm:pt modelId="{C26E0332-809A-4CC8-82FD-160FDA2743A8}" type="pres">
      <dgm:prSet presAssocID="{4E08BC4D-91C4-4693-B19C-FB45FCA73359}" presName="aNode" presStyleLbl="bgShp" presStyleIdx="0" presStyleCnt="2"/>
      <dgm:spPr/>
      <dgm:t>
        <a:bodyPr/>
        <a:lstStyle/>
        <a:p>
          <a:endParaRPr lang="en-US"/>
        </a:p>
      </dgm:t>
    </dgm:pt>
    <dgm:pt modelId="{D382DEAF-8F66-4E13-B25E-65A7CD70E9B7}" type="pres">
      <dgm:prSet presAssocID="{4E08BC4D-91C4-4693-B19C-FB45FCA73359}" presName="textNode" presStyleLbl="bgShp" presStyleIdx="0" presStyleCnt="2"/>
      <dgm:spPr/>
      <dgm:t>
        <a:bodyPr/>
        <a:lstStyle/>
        <a:p>
          <a:endParaRPr lang="en-US"/>
        </a:p>
      </dgm:t>
    </dgm:pt>
    <dgm:pt modelId="{CC0FC3A0-F640-4FF5-865D-98719FF693B0}" type="pres">
      <dgm:prSet presAssocID="{4E08BC4D-91C4-4693-B19C-FB45FCA73359}" presName="compChildNode" presStyleCnt="0"/>
      <dgm:spPr/>
    </dgm:pt>
    <dgm:pt modelId="{EE18C874-0429-492A-8520-91E9383A881C}" type="pres">
      <dgm:prSet presAssocID="{4E08BC4D-91C4-4693-B19C-FB45FCA73359}" presName="theInnerList" presStyleCnt="0"/>
      <dgm:spPr/>
    </dgm:pt>
    <dgm:pt modelId="{8A3AC034-AB21-402D-8017-7B6041D4919B}" type="pres">
      <dgm:prSet presAssocID="{23C6C7E8-833F-4809-9099-0B84DD717A43}" presName="child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B7E493-93E8-4911-8687-4B0BCE863A2A}" type="pres">
      <dgm:prSet presAssocID="{23C6C7E8-833F-4809-9099-0B84DD717A43}" presName="aSpace2" presStyleCnt="0"/>
      <dgm:spPr/>
    </dgm:pt>
    <dgm:pt modelId="{4FBE5635-2235-453F-BE5A-03305D49AAA1}" type="pres">
      <dgm:prSet presAssocID="{B71154DC-DA0F-447B-BD47-38A5B749921B}" presName="childNode" presStyleLbl="node1" presStyleIdx="1" presStyleCnt="6">
        <dgm:presLayoutVars>
          <dgm:bulletEnabled val="1"/>
        </dgm:presLayoutVars>
      </dgm:prSet>
      <dgm:spPr/>
    </dgm:pt>
    <dgm:pt modelId="{B87DDE6D-A36B-429E-8A43-2F3730D6FD55}" type="pres">
      <dgm:prSet presAssocID="{B71154DC-DA0F-447B-BD47-38A5B749921B}" presName="aSpace2" presStyleCnt="0"/>
      <dgm:spPr/>
    </dgm:pt>
    <dgm:pt modelId="{8A45769D-ADE4-4BDE-AA42-AAAAC9CDD6ED}" type="pres">
      <dgm:prSet presAssocID="{CDB97C63-807E-4A4D-9C22-362F80BFF1C0}" presName="childNode" presStyleLbl="node1" presStyleIdx="2" presStyleCnt="6">
        <dgm:presLayoutVars>
          <dgm:bulletEnabled val="1"/>
        </dgm:presLayoutVars>
      </dgm:prSet>
      <dgm:spPr/>
    </dgm:pt>
    <dgm:pt modelId="{D7E6DDB9-4C32-46E4-8B7A-4DB49FC65D7B}" type="pres">
      <dgm:prSet presAssocID="{4E08BC4D-91C4-4693-B19C-FB45FCA73359}" presName="aSpace" presStyleCnt="0"/>
      <dgm:spPr/>
    </dgm:pt>
    <dgm:pt modelId="{E079999D-D3F7-43D2-9373-EEBF422EDF72}" type="pres">
      <dgm:prSet presAssocID="{B469CDAF-BA07-4C40-8A85-19B96B2806E6}" presName="compNode" presStyleCnt="0"/>
      <dgm:spPr/>
    </dgm:pt>
    <dgm:pt modelId="{52CFC7E5-A733-480C-88F6-34F61F59B775}" type="pres">
      <dgm:prSet presAssocID="{B469CDAF-BA07-4C40-8A85-19B96B2806E6}" presName="aNode" presStyleLbl="bgShp" presStyleIdx="1" presStyleCnt="2"/>
      <dgm:spPr/>
      <dgm:t>
        <a:bodyPr/>
        <a:lstStyle/>
        <a:p>
          <a:endParaRPr lang="en-US"/>
        </a:p>
      </dgm:t>
    </dgm:pt>
    <dgm:pt modelId="{D52FC12C-2683-4828-838A-58F298CCD982}" type="pres">
      <dgm:prSet presAssocID="{B469CDAF-BA07-4C40-8A85-19B96B2806E6}" presName="textNode" presStyleLbl="bgShp" presStyleIdx="1" presStyleCnt="2"/>
      <dgm:spPr/>
      <dgm:t>
        <a:bodyPr/>
        <a:lstStyle/>
        <a:p>
          <a:endParaRPr lang="en-US"/>
        </a:p>
      </dgm:t>
    </dgm:pt>
    <dgm:pt modelId="{2DC3BEAA-295E-4918-AA9F-2FAC130C698E}" type="pres">
      <dgm:prSet presAssocID="{B469CDAF-BA07-4C40-8A85-19B96B2806E6}" presName="compChildNode" presStyleCnt="0"/>
      <dgm:spPr/>
    </dgm:pt>
    <dgm:pt modelId="{F694A109-1D02-4853-AAA0-F32FDBD8D071}" type="pres">
      <dgm:prSet presAssocID="{B469CDAF-BA07-4C40-8A85-19B96B2806E6}" presName="theInnerList" presStyleCnt="0"/>
      <dgm:spPr/>
    </dgm:pt>
    <dgm:pt modelId="{4EAA1939-DA74-40FF-8336-58E2677946D7}" type="pres">
      <dgm:prSet presAssocID="{FC0ECA42-004C-4BED-825F-715AB7E98AFB}" presName="child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6B4A5F-FB63-49F8-BE17-D301791A03B2}" type="pres">
      <dgm:prSet presAssocID="{FC0ECA42-004C-4BED-825F-715AB7E98AFB}" presName="aSpace2" presStyleCnt="0"/>
      <dgm:spPr/>
    </dgm:pt>
    <dgm:pt modelId="{0CDBBE8E-3E05-439B-90F8-AFE97E94A4D8}" type="pres">
      <dgm:prSet presAssocID="{1D4B49D3-CA28-4EE7-BCB4-9CC4E03FCA47}" presName="childNode" presStyleLbl="node1" presStyleIdx="4" presStyleCnt="6">
        <dgm:presLayoutVars>
          <dgm:bulletEnabled val="1"/>
        </dgm:presLayoutVars>
      </dgm:prSet>
      <dgm:spPr/>
    </dgm:pt>
    <dgm:pt modelId="{90939809-A3F5-4FD3-8397-7328588B9BCB}" type="pres">
      <dgm:prSet presAssocID="{1D4B49D3-CA28-4EE7-BCB4-9CC4E03FCA47}" presName="aSpace2" presStyleCnt="0"/>
      <dgm:spPr/>
    </dgm:pt>
    <dgm:pt modelId="{2C759419-4F34-43CB-B5E0-2F510ADF9A08}" type="pres">
      <dgm:prSet presAssocID="{0C3AE43C-DE5D-49D8-B615-1802AB9FEB9F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3BAA0A2E-19B7-4B33-8DE5-A18E243D70F7}" type="presOf" srcId="{4E08BC4D-91C4-4693-B19C-FB45FCA73359}" destId="{C26E0332-809A-4CC8-82FD-160FDA2743A8}" srcOrd="0" destOrd="0" presId="urn:microsoft.com/office/officeart/2005/8/layout/lProcess2"/>
    <dgm:cxn modelId="{7ADED479-C123-4CF7-970E-1DD52B861A0B}" type="presOf" srcId="{0CFDF2CC-7F7A-4EFF-B395-AF74A91C9DB4}" destId="{9F2882E6-A135-4C7D-A472-DB845179056A}" srcOrd="0" destOrd="0" presId="urn:microsoft.com/office/officeart/2005/8/layout/lProcess2"/>
    <dgm:cxn modelId="{181A5280-9548-4FFA-818B-FE6EB51F6480}" type="presOf" srcId="{23C6C7E8-833F-4809-9099-0B84DD717A43}" destId="{8A3AC034-AB21-402D-8017-7B6041D4919B}" srcOrd="0" destOrd="0" presId="urn:microsoft.com/office/officeart/2005/8/layout/lProcess2"/>
    <dgm:cxn modelId="{DFA73E1C-1F35-4A1C-9E8B-BEAFF6D3E056}" type="presOf" srcId="{0C3AE43C-DE5D-49D8-B615-1802AB9FEB9F}" destId="{2C759419-4F34-43CB-B5E0-2F510ADF9A08}" srcOrd="0" destOrd="0" presId="urn:microsoft.com/office/officeart/2005/8/layout/lProcess2"/>
    <dgm:cxn modelId="{5E914FF5-E93B-4253-9B82-45D12C3D5C22}" type="presOf" srcId="{B71154DC-DA0F-447B-BD47-38A5B749921B}" destId="{4FBE5635-2235-453F-BE5A-03305D49AAA1}" srcOrd="0" destOrd="0" presId="urn:microsoft.com/office/officeart/2005/8/layout/lProcess2"/>
    <dgm:cxn modelId="{4652049A-39AD-4343-9ECD-B87662C8B25E}" srcId="{0CFDF2CC-7F7A-4EFF-B395-AF74A91C9DB4}" destId="{4E08BC4D-91C4-4693-B19C-FB45FCA73359}" srcOrd="0" destOrd="0" parTransId="{5811B5E8-EB5B-489F-87E9-11CD3BCF4B1A}" sibTransId="{B7918AB1-5A9F-4664-9C97-C5717CA9F0CD}"/>
    <dgm:cxn modelId="{028B5512-5265-4424-A89E-ECF6A8650EE1}" type="presOf" srcId="{FC0ECA42-004C-4BED-825F-715AB7E98AFB}" destId="{4EAA1939-DA74-40FF-8336-58E2677946D7}" srcOrd="0" destOrd="0" presId="urn:microsoft.com/office/officeart/2005/8/layout/lProcess2"/>
    <dgm:cxn modelId="{B7A3A857-E52B-444A-9112-A9076D571FF6}" srcId="{4E08BC4D-91C4-4693-B19C-FB45FCA73359}" destId="{23C6C7E8-833F-4809-9099-0B84DD717A43}" srcOrd="0" destOrd="0" parTransId="{4C47F08E-9DC7-46F4-A146-EFB1B71F5EA1}" sibTransId="{4156BAD9-4603-4733-93F0-AE1869318C16}"/>
    <dgm:cxn modelId="{275E5930-DA03-4441-A6BD-75DBD38E8B62}" type="presOf" srcId="{B469CDAF-BA07-4C40-8A85-19B96B2806E6}" destId="{D52FC12C-2683-4828-838A-58F298CCD982}" srcOrd="1" destOrd="0" presId="urn:microsoft.com/office/officeart/2005/8/layout/lProcess2"/>
    <dgm:cxn modelId="{DBC4FCB9-BF8F-464D-9915-1CB2E5E555A7}" srcId="{B469CDAF-BA07-4C40-8A85-19B96B2806E6}" destId="{FC0ECA42-004C-4BED-825F-715AB7E98AFB}" srcOrd="0" destOrd="0" parTransId="{37C94A25-372C-41C8-9A09-C117629BCC1F}" sibTransId="{0C8BF8BA-0BDE-4AA9-B15A-D80E7B62D41D}"/>
    <dgm:cxn modelId="{D03A29A6-9D39-4036-BF12-C56E0472E24C}" srcId="{B469CDAF-BA07-4C40-8A85-19B96B2806E6}" destId="{1D4B49D3-CA28-4EE7-BCB4-9CC4E03FCA47}" srcOrd="1" destOrd="0" parTransId="{2D5366DA-8FB5-45BC-8DFB-DF9E10157D64}" sibTransId="{6A7C9E5A-6BC2-4773-AC4A-618B86716C0B}"/>
    <dgm:cxn modelId="{AD6C0D85-C96E-446F-A1BD-AA783848099C}" srcId="{4E08BC4D-91C4-4693-B19C-FB45FCA73359}" destId="{B71154DC-DA0F-447B-BD47-38A5B749921B}" srcOrd="1" destOrd="0" parTransId="{B1ECA712-F987-4D84-B62D-4B5030A13E94}" sibTransId="{BC00F563-8D2E-4D96-8538-398CF1D3F3A4}"/>
    <dgm:cxn modelId="{F2D34FE2-294A-48C2-A134-95017E36C41B}" srcId="{4E08BC4D-91C4-4693-B19C-FB45FCA73359}" destId="{CDB97C63-807E-4A4D-9C22-362F80BFF1C0}" srcOrd="2" destOrd="0" parTransId="{F4E712F9-C1AC-4C5F-9605-37508AFE51B4}" sibTransId="{1D231032-4D04-41DC-9265-686F102F7A6A}"/>
    <dgm:cxn modelId="{2BF6C69D-BEAA-4DD7-A6B2-5B535E88F07B}" type="presOf" srcId="{CDB97C63-807E-4A4D-9C22-362F80BFF1C0}" destId="{8A45769D-ADE4-4BDE-AA42-AAAAC9CDD6ED}" srcOrd="0" destOrd="0" presId="urn:microsoft.com/office/officeart/2005/8/layout/lProcess2"/>
    <dgm:cxn modelId="{51E366DD-62BF-4ADC-B0EE-A20ECA8B5401}" type="presOf" srcId="{1D4B49D3-CA28-4EE7-BCB4-9CC4E03FCA47}" destId="{0CDBBE8E-3E05-439B-90F8-AFE97E94A4D8}" srcOrd="0" destOrd="0" presId="urn:microsoft.com/office/officeart/2005/8/layout/lProcess2"/>
    <dgm:cxn modelId="{3C111FE0-865F-41EE-AFF1-B7B37D30B532}" type="presOf" srcId="{4E08BC4D-91C4-4693-B19C-FB45FCA73359}" destId="{D382DEAF-8F66-4E13-B25E-65A7CD70E9B7}" srcOrd="1" destOrd="0" presId="urn:microsoft.com/office/officeart/2005/8/layout/lProcess2"/>
    <dgm:cxn modelId="{161CA106-7B39-4EE0-B6AE-BB3991C6D2D0}" srcId="{B469CDAF-BA07-4C40-8A85-19B96B2806E6}" destId="{0C3AE43C-DE5D-49D8-B615-1802AB9FEB9F}" srcOrd="2" destOrd="0" parTransId="{DB145DE0-F937-4F54-98A1-784BA1367384}" sibTransId="{FC49C53F-D194-45CE-B401-4B414337355C}"/>
    <dgm:cxn modelId="{D8D02C8E-0AF3-4EA8-9E6C-EDF0A0EE3E21}" srcId="{0CFDF2CC-7F7A-4EFF-B395-AF74A91C9DB4}" destId="{B469CDAF-BA07-4C40-8A85-19B96B2806E6}" srcOrd="1" destOrd="0" parTransId="{FC2B0DE5-4831-4BC5-AD06-F57FCD7511D7}" sibTransId="{9EBA8801-F734-4A46-B1C7-EC4E193F6A03}"/>
    <dgm:cxn modelId="{A3B8EA5B-0B32-4854-A692-1F4BDCED232F}" type="presOf" srcId="{B469CDAF-BA07-4C40-8A85-19B96B2806E6}" destId="{52CFC7E5-A733-480C-88F6-34F61F59B775}" srcOrd="0" destOrd="0" presId="urn:microsoft.com/office/officeart/2005/8/layout/lProcess2"/>
    <dgm:cxn modelId="{DB012E6F-668C-4485-BF46-B5765C1D3B0F}" type="presParOf" srcId="{9F2882E6-A135-4C7D-A472-DB845179056A}" destId="{461E45DE-A6CC-48C4-891E-54ED322765EB}" srcOrd="0" destOrd="0" presId="urn:microsoft.com/office/officeart/2005/8/layout/lProcess2"/>
    <dgm:cxn modelId="{9115B178-EC8E-411E-ACC0-FF631D58F750}" type="presParOf" srcId="{461E45DE-A6CC-48C4-891E-54ED322765EB}" destId="{C26E0332-809A-4CC8-82FD-160FDA2743A8}" srcOrd="0" destOrd="0" presId="urn:microsoft.com/office/officeart/2005/8/layout/lProcess2"/>
    <dgm:cxn modelId="{890E3F90-D079-4B80-ACF6-5BE7AA114742}" type="presParOf" srcId="{461E45DE-A6CC-48C4-891E-54ED322765EB}" destId="{D382DEAF-8F66-4E13-B25E-65A7CD70E9B7}" srcOrd="1" destOrd="0" presId="urn:microsoft.com/office/officeart/2005/8/layout/lProcess2"/>
    <dgm:cxn modelId="{5C1DBF85-D0EF-4900-9578-32AD9506EDC2}" type="presParOf" srcId="{461E45DE-A6CC-48C4-891E-54ED322765EB}" destId="{CC0FC3A0-F640-4FF5-865D-98719FF693B0}" srcOrd="2" destOrd="0" presId="urn:microsoft.com/office/officeart/2005/8/layout/lProcess2"/>
    <dgm:cxn modelId="{1D1895EB-D617-4B81-BB49-1A8587733007}" type="presParOf" srcId="{CC0FC3A0-F640-4FF5-865D-98719FF693B0}" destId="{EE18C874-0429-492A-8520-91E9383A881C}" srcOrd="0" destOrd="0" presId="urn:microsoft.com/office/officeart/2005/8/layout/lProcess2"/>
    <dgm:cxn modelId="{F6CA12A8-6AC0-4051-80D5-89EA017B44C6}" type="presParOf" srcId="{EE18C874-0429-492A-8520-91E9383A881C}" destId="{8A3AC034-AB21-402D-8017-7B6041D4919B}" srcOrd="0" destOrd="0" presId="urn:microsoft.com/office/officeart/2005/8/layout/lProcess2"/>
    <dgm:cxn modelId="{525F8E4D-1D42-42E8-891B-0D93AD875DE4}" type="presParOf" srcId="{EE18C874-0429-492A-8520-91E9383A881C}" destId="{1EB7E493-93E8-4911-8687-4B0BCE863A2A}" srcOrd="1" destOrd="0" presId="urn:microsoft.com/office/officeart/2005/8/layout/lProcess2"/>
    <dgm:cxn modelId="{3AB96768-BE59-4D6B-AFD0-F7CF2751E87A}" type="presParOf" srcId="{EE18C874-0429-492A-8520-91E9383A881C}" destId="{4FBE5635-2235-453F-BE5A-03305D49AAA1}" srcOrd="2" destOrd="0" presId="urn:microsoft.com/office/officeart/2005/8/layout/lProcess2"/>
    <dgm:cxn modelId="{0414C3F4-B948-4C1A-A658-9FE6828391D5}" type="presParOf" srcId="{EE18C874-0429-492A-8520-91E9383A881C}" destId="{B87DDE6D-A36B-429E-8A43-2F3730D6FD55}" srcOrd="3" destOrd="0" presId="urn:microsoft.com/office/officeart/2005/8/layout/lProcess2"/>
    <dgm:cxn modelId="{258DEB33-70D8-45A8-84E7-A9602C8678F2}" type="presParOf" srcId="{EE18C874-0429-492A-8520-91E9383A881C}" destId="{8A45769D-ADE4-4BDE-AA42-AAAAC9CDD6ED}" srcOrd="4" destOrd="0" presId="urn:microsoft.com/office/officeart/2005/8/layout/lProcess2"/>
    <dgm:cxn modelId="{302E814B-5207-4C32-9D4C-AAD68A4E6226}" type="presParOf" srcId="{9F2882E6-A135-4C7D-A472-DB845179056A}" destId="{D7E6DDB9-4C32-46E4-8B7A-4DB49FC65D7B}" srcOrd="1" destOrd="0" presId="urn:microsoft.com/office/officeart/2005/8/layout/lProcess2"/>
    <dgm:cxn modelId="{870B4D7B-7302-4D68-B3D0-9F31C9595007}" type="presParOf" srcId="{9F2882E6-A135-4C7D-A472-DB845179056A}" destId="{E079999D-D3F7-43D2-9373-EEBF422EDF72}" srcOrd="2" destOrd="0" presId="urn:microsoft.com/office/officeart/2005/8/layout/lProcess2"/>
    <dgm:cxn modelId="{F39017C1-7615-4391-963E-C450DE062BBB}" type="presParOf" srcId="{E079999D-D3F7-43D2-9373-EEBF422EDF72}" destId="{52CFC7E5-A733-480C-88F6-34F61F59B775}" srcOrd="0" destOrd="0" presId="urn:microsoft.com/office/officeart/2005/8/layout/lProcess2"/>
    <dgm:cxn modelId="{4A1C271B-A6DF-465C-B6C8-EA6913FCE574}" type="presParOf" srcId="{E079999D-D3F7-43D2-9373-EEBF422EDF72}" destId="{D52FC12C-2683-4828-838A-58F298CCD982}" srcOrd="1" destOrd="0" presId="urn:microsoft.com/office/officeart/2005/8/layout/lProcess2"/>
    <dgm:cxn modelId="{51647165-C718-4424-9472-33C26B70D3B7}" type="presParOf" srcId="{E079999D-D3F7-43D2-9373-EEBF422EDF72}" destId="{2DC3BEAA-295E-4918-AA9F-2FAC130C698E}" srcOrd="2" destOrd="0" presId="urn:microsoft.com/office/officeart/2005/8/layout/lProcess2"/>
    <dgm:cxn modelId="{6664464A-F60A-4EF8-9AED-63E719E3875C}" type="presParOf" srcId="{2DC3BEAA-295E-4918-AA9F-2FAC130C698E}" destId="{F694A109-1D02-4853-AAA0-F32FDBD8D071}" srcOrd="0" destOrd="0" presId="urn:microsoft.com/office/officeart/2005/8/layout/lProcess2"/>
    <dgm:cxn modelId="{AD30C36E-00BA-4A28-B657-689E09405CC3}" type="presParOf" srcId="{F694A109-1D02-4853-AAA0-F32FDBD8D071}" destId="{4EAA1939-DA74-40FF-8336-58E2677946D7}" srcOrd="0" destOrd="0" presId="urn:microsoft.com/office/officeart/2005/8/layout/lProcess2"/>
    <dgm:cxn modelId="{FE8DCD0D-C1F4-4939-9C4E-0F44923F9314}" type="presParOf" srcId="{F694A109-1D02-4853-AAA0-F32FDBD8D071}" destId="{366B4A5F-FB63-49F8-BE17-D301791A03B2}" srcOrd="1" destOrd="0" presId="urn:microsoft.com/office/officeart/2005/8/layout/lProcess2"/>
    <dgm:cxn modelId="{437F08C8-3517-4FA3-AC1F-B90F1C69FDC1}" type="presParOf" srcId="{F694A109-1D02-4853-AAA0-F32FDBD8D071}" destId="{0CDBBE8E-3E05-439B-90F8-AFE97E94A4D8}" srcOrd="2" destOrd="0" presId="urn:microsoft.com/office/officeart/2005/8/layout/lProcess2"/>
    <dgm:cxn modelId="{7A001243-94B9-4A0A-8D67-F9127DF7D248}" type="presParOf" srcId="{F694A109-1D02-4853-AAA0-F32FDBD8D071}" destId="{90939809-A3F5-4FD3-8397-7328588B9BCB}" srcOrd="3" destOrd="0" presId="urn:microsoft.com/office/officeart/2005/8/layout/lProcess2"/>
    <dgm:cxn modelId="{CD594EDE-902A-4B38-8FBB-AE9FA30DEA19}" type="presParOf" srcId="{F694A109-1D02-4853-AAA0-F32FDBD8D071}" destId="{2C759419-4F34-43CB-B5E0-2F510ADF9A08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9420225" cy="4765001"/>
        <a:chOff x="0" y="0"/>
        <a:chExt cx="9420225" cy="4765001"/>
      </a:xfrm>
    </dsp:grpSpPr>
    <dsp:sp modelId="{C26E0332-809A-4CC8-82FD-160FDA2743A8}">
      <dsp:nvSpPr>
        <dsp:cNvPr id="3" name="Rounded Rectangle 2"/>
        <dsp:cNvSpPr/>
      </dsp:nvSpPr>
      <dsp:spPr bwMode="white">
        <a:xfrm>
          <a:off x="0" y="0"/>
          <a:ext cx="4539867" cy="4765001"/>
        </a:xfrm>
        <a:prstGeom prst="roundRect">
          <a:avLst>
            <a:gd name="adj" fmla="val 10000"/>
          </a:avLst>
        </a:prstGeom>
      </dsp:spPr>
      <dsp:style>
        <a:lnRef idx="0">
          <a:schemeClr val="dk1"/>
        </a:lnRef>
        <a:fillRef idx="1">
          <a:schemeClr val="accent2">
            <a:tint val="55000"/>
          </a:schemeClr>
        </a:fillRef>
        <a:effectRef idx="0">
          <a:scrgbClr r="0" g="0" b="0"/>
        </a:effectRef>
        <a:fontRef idx="minor"/>
      </dsp:style>
      <dsp:txBody>
        <a:bodyPr lIns="144780" tIns="144780" rIns="144780" bIns="144780" anchor="ctr"/>
        <a:lstStyle>
          <a:lvl1pPr algn="ctr">
            <a:defRPr sz="3800"/>
          </a:lvl1pPr>
          <a:lvl2pPr marL="285750" indent="-285750" algn="ctr">
            <a:defRPr sz="2900"/>
          </a:lvl2pPr>
          <a:lvl3pPr marL="571500" indent="-285750" algn="ctr">
            <a:defRPr sz="2900"/>
          </a:lvl3pPr>
          <a:lvl4pPr marL="857250" indent="-285750" algn="ctr">
            <a:defRPr sz="2900"/>
          </a:lvl4pPr>
          <a:lvl5pPr marL="1143000" indent="-285750" algn="ctr">
            <a:defRPr sz="2900"/>
          </a:lvl5pPr>
          <a:lvl6pPr marL="1428750" indent="-285750" algn="ctr">
            <a:defRPr sz="2900"/>
          </a:lvl6pPr>
          <a:lvl7pPr marL="1714500" indent="-285750" algn="ctr">
            <a:defRPr sz="2900"/>
          </a:lvl7pPr>
          <a:lvl8pPr marL="2000250" indent="-285750" algn="ctr">
            <a:defRPr sz="2900"/>
          </a:lvl8pPr>
          <a:lvl9pPr marL="2286000" indent="-285750" algn="ctr">
            <a:defRPr sz="29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strike="noStrike" cap="none" dirty="0" smtClean="0">
              <a:solidFill>
                <a:schemeClr val="dk1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rPr>
            <a:t>Key takeaways</a:t>
          </a:r>
          <a:r>
            <a:rPr lang="en-US" b="0" i="0" u="none" strike="noStrike" cap="none" dirty="0" smtClean="0">
              <a:solidFill>
                <a:schemeClr val="dk1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rPr>
            <a:t> </a:t>
          </a:r>
          <a:endParaRPr lang="en-US" dirty="0">
            <a:solidFill>
              <a:schemeClr val="dk1"/>
            </a:solidFill>
          </a:endParaRPr>
        </a:p>
      </dsp:txBody>
      <dsp:txXfrm>
        <a:off x="0" y="0"/>
        <a:ext cx="4539867" cy="4765001"/>
      </dsp:txXfrm>
    </dsp:sp>
    <dsp:sp modelId="{8A3AC034-AB21-402D-8017-7B6041D4919B}">
      <dsp:nvSpPr>
        <dsp:cNvPr id="4" name="Rounded Rectangle 3"/>
        <dsp:cNvSpPr/>
      </dsp:nvSpPr>
      <dsp:spPr bwMode="white">
        <a:xfrm>
          <a:off x="453987" y="1429500"/>
          <a:ext cx="3631894" cy="93637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>
            <a:shade val="50000"/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43180" tIns="32384" rIns="43180" bIns="32384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/>
            <a:t>Data processing </a:t>
          </a:r>
          <a:r>
            <a:rPr lang="en-US" dirty="0" err="1" smtClean="0"/>
            <a:t>techiniques</a:t>
          </a:r>
          <a:endParaRPr lang="en-US" dirty="0"/>
        </a:p>
      </dsp:txBody>
      <dsp:txXfrm>
        <a:off x="453987" y="1429500"/>
        <a:ext cx="3631894" cy="936378"/>
      </dsp:txXfrm>
    </dsp:sp>
    <dsp:sp modelId="{4FBE5635-2235-453F-BE5A-03305D49AAA1}">
      <dsp:nvSpPr>
        <dsp:cNvPr id="5" name="Rounded Rectangle 4"/>
        <dsp:cNvSpPr/>
      </dsp:nvSpPr>
      <dsp:spPr bwMode="white">
        <a:xfrm>
          <a:off x="453987" y="2509937"/>
          <a:ext cx="3631894" cy="93637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>
            <a:shade val="50000"/>
            <a:hueOff val="120000"/>
            <a:satOff val="-8888"/>
            <a:lumOff val="16863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43180" tIns="32384" rIns="43180" bIns="32384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mtClean="0"/>
            <a:t>A centralized dashboard significantly improves visibility of GBV trends.</a:t>
          </a:r>
          <a:endParaRPr lang="en-US" dirty="0"/>
        </a:p>
      </dsp:txBody>
      <dsp:txXfrm>
        <a:off x="453987" y="2509937"/>
        <a:ext cx="3631894" cy="936378"/>
      </dsp:txXfrm>
    </dsp:sp>
    <dsp:sp modelId="{8A45769D-ADE4-4BDE-AA42-AAAAC9CDD6ED}">
      <dsp:nvSpPr>
        <dsp:cNvPr id="6" name="Rounded Rectangle 5"/>
        <dsp:cNvSpPr/>
      </dsp:nvSpPr>
      <dsp:spPr bwMode="white">
        <a:xfrm>
          <a:off x="453987" y="3590373"/>
          <a:ext cx="3631894" cy="93637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>
            <a:shade val="50000"/>
            <a:hueOff val="240000"/>
            <a:satOff val="-17777"/>
            <a:lumOff val="33725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43180" tIns="32384" rIns="43180" bIns="32384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dirty="0" smtClean="0"/>
            <a:t>Visual analytics help highlight hotspots and high-risk categories.</a:t>
          </a:r>
          <a:endParaRPr lang="en-GB" b="0" i="0" u="none" strike="noStrike" cap="none" dirty="0" smtClean="0">
            <a:latin typeface="IBM Plex Sans" panose="020B0503050203000203"/>
            <a:ea typeface="IBM Plex Sans" panose="020B0503050203000203"/>
            <a:cs typeface="IBM Plex Sans" panose="020B0503050203000203"/>
            <a:sym typeface="IBM Plex Sans" panose="020B0503050203000203"/>
          </a:endParaRPr>
        </a:p>
      </dsp:txBody>
      <dsp:txXfrm>
        <a:off x="453987" y="3590373"/>
        <a:ext cx="3631894" cy="936378"/>
      </dsp:txXfrm>
    </dsp:sp>
    <dsp:sp modelId="{52CFC7E5-A733-480C-88F6-34F61F59B775}">
      <dsp:nvSpPr>
        <dsp:cNvPr id="7" name="Rounded Rectangle 6"/>
        <dsp:cNvSpPr/>
      </dsp:nvSpPr>
      <dsp:spPr bwMode="white">
        <a:xfrm>
          <a:off x="4880358" y="0"/>
          <a:ext cx="4539867" cy="4765001"/>
        </a:xfrm>
        <a:prstGeom prst="roundRect">
          <a:avLst>
            <a:gd name="adj" fmla="val 10000"/>
          </a:avLst>
        </a:prstGeom>
      </dsp:spPr>
      <dsp:style>
        <a:lnRef idx="0">
          <a:schemeClr val="dk1"/>
        </a:lnRef>
        <a:fillRef idx="1">
          <a:schemeClr val="accent2">
            <a:tint val="55000"/>
          </a:schemeClr>
        </a:fillRef>
        <a:effectRef idx="0">
          <a:scrgbClr r="0" g="0" b="0"/>
        </a:effectRef>
        <a:fontRef idx="minor"/>
      </dsp:style>
      <dsp:txBody>
        <a:bodyPr lIns="144780" tIns="144780" rIns="144780" bIns="144780" anchor="ctr"/>
        <a:lstStyle>
          <a:lvl1pPr algn="ctr">
            <a:defRPr sz="3800"/>
          </a:lvl1pPr>
          <a:lvl2pPr marL="285750" indent="-285750" algn="ctr">
            <a:defRPr sz="2900"/>
          </a:lvl2pPr>
          <a:lvl3pPr marL="571500" indent="-285750" algn="ctr">
            <a:defRPr sz="2900"/>
          </a:lvl3pPr>
          <a:lvl4pPr marL="857250" indent="-285750" algn="ctr">
            <a:defRPr sz="2900"/>
          </a:lvl4pPr>
          <a:lvl5pPr marL="1143000" indent="-285750" algn="ctr">
            <a:defRPr sz="2900"/>
          </a:lvl5pPr>
          <a:lvl6pPr marL="1428750" indent="-285750" algn="ctr">
            <a:defRPr sz="2900"/>
          </a:lvl6pPr>
          <a:lvl7pPr marL="1714500" indent="-285750" algn="ctr">
            <a:defRPr sz="2900"/>
          </a:lvl7pPr>
          <a:lvl8pPr marL="2000250" indent="-285750" algn="ctr">
            <a:defRPr sz="2900"/>
          </a:lvl8pPr>
          <a:lvl9pPr marL="2286000" indent="-285750" algn="ctr">
            <a:defRPr sz="29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i="0" u="none" strike="noStrike" cap="none" smtClean="0">
              <a:solidFill>
                <a:schemeClr val="dk1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rPr>
            <a:t>Recommendations</a:t>
          </a:r>
          <a:r>
            <a:rPr lang="en-US" b="0" i="0" u="none" strike="noStrike" cap="none" smtClean="0">
              <a:solidFill>
                <a:schemeClr val="dk1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rPr>
            <a:t> </a:t>
          </a:r>
          <a:endParaRPr lang="en-US" dirty="0">
            <a:solidFill>
              <a:schemeClr val="dk1"/>
            </a:solidFill>
          </a:endParaRPr>
        </a:p>
      </dsp:txBody>
      <dsp:txXfrm>
        <a:off x="4880358" y="0"/>
        <a:ext cx="4539867" cy="4765001"/>
      </dsp:txXfrm>
    </dsp:sp>
    <dsp:sp modelId="{4EAA1939-DA74-40FF-8336-58E2677946D7}">
      <dsp:nvSpPr>
        <dsp:cNvPr id="8" name="Rounded Rectangle 7"/>
        <dsp:cNvSpPr/>
      </dsp:nvSpPr>
      <dsp:spPr bwMode="white">
        <a:xfrm>
          <a:off x="5334344" y="1429500"/>
          <a:ext cx="3631894" cy="93637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>
            <a:shade val="50000"/>
            <a:hueOff val="360000"/>
            <a:satOff val="-26666"/>
            <a:lumOff val="50588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43180" tIns="32384" rIns="43180" bIns="32384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dirty="0" smtClean="0"/>
            <a:t>Internal institutional adoption</a:t>
          </a:r>
          <a:endParaRPr lang="en-GB" dirty="0" smtClean="0"/>
        </a:p>
      </dsp:txBody>
      <dsp:txXfrm>
        <a:off x="5334344" y="1429500"/>
        <a:ext cx="3631894" cy="936378"/>
      </dsp:txXfrm>
    </dsp:sp>
    <dsp:sp modelId="{0CDBBE8E-3E05-439B-90F8-AFE97E94A4D8}">
      <dsp:nvSpPr>
        <dsp:cNvPr id="9" name="Rounded Rectangle 8"/>
        <dsp:cNvSpPr/>
      </dsp:nvSpPr>
      <dsp:spPr bwMode="white">
        <a:xfrm>
          <a:off x="5334344" y="2509937"/>
          <a:ext cx="3631894" cy="93637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>
            <a:tint val="45000"/>
            <a:hueOff val="-120000"/>
            <a:satOff val="8889"/>
            <a:lumOff val="-16862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43180" tIns="32384" rIns="43180" bIns="32384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dirty="0" smtClean="0"/>
            <a:t>Expand dashboard with additional datasets (e.g., justice outcomes</a:t>
          </a:r>
          <a:endParaRPr lang="en-GB" dirty="0" smtClean="0"/>
        </a:p>
      </dsp:txBody>
      <dsp:txXfrm>
        <a:off x="5334344" y="2509937"/>
        <a:ext cx="3631894" cy="936378"/>
      </dsp:txXfrm>
    </dsp:sp>
    <dsp:sp modelId="{2C759419-4F34-43CB-B5E0-2F510ADF9A08}">
      <dsp:nvSpPr>
        <dsp:cNvPr id="10" name="Rounded Rectangle 9"/>
        <dsp:cNvSpPr/>
      </dsp:nvSpPr>
      <dsp:spPr bwMode="white">
        <a:xfrm>
          <a:off x="5334344" y="3590373"/>
          <a:ext cx="3631894" cy="93637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>
            <a:tint val="45000"/>
            <a:hueOff val="-240000"/>
            <a:satOff val="17778"/>
            <a:lumOff val="-33724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43180" tIns="32384" rIns="43180" bIns="32384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mtClean="0"/>
            <a:t>Ensure regular maintenance and updates to keep data relevant</a:t>
          </a:r>
          <a:endParaRPr lang="en-US" b="0" i="0" u="none" strike="noStrike" cap="none" dirty="0">
            <a:latin typeface="IBM Plex Sans" panose="020B0503050203000203"/>
            <a:ea typeface="IBM Plex Sans" panose="020B0503050203000203"/>
            <a:cs typeface="IBM Plex Sans" panose="020B0503050203000203"/>
            <a:sym typeface="IBM Plex Sans" panose="020B0503050203000203"/>
          </a:endParaRPr>
        </a:p>
      </dsp:txBody>
      <dsp:txXfrm>
        <a:off x="5334344" y="3590373"/>
        <a:ext cx="3631894" cy="9363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685800"/>
            <a:ext cx="4851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685800"/>
            <a:ext cx="4851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685800"/>
            <a:ext cx="4851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685800"/>
            <a:ext cx="4851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685800"/>
            <a:ext cx="4851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685800"/>
            <a:ext cx="4851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685800"/>
            <a:ext cx="4851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685800"/>
            <a:ext cx="4851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685800"/>
            <a:ext cx="4851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685800"/>
            <a:ext cx="4851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5" name="Google Shape;1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685800"/>
            <a:ext cx="4851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5" name="Google Shape;1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685800"/>
            <a:ext cx="4851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g36fd9898095_0_166"/>
          <p:cNvGrpSpPr/>
          <p:nvPr/>
        </p:nvGrpSpPr>
        <p:grpSpPr>
          <a:xfrm>
            <a:off x="7131443" y="7"/>
            <a:ext cx="3561554" cy="2983111"/>
            <a:chOff x="6098378" y="5"/>
            <a:chExt cx="3045625" cy="2030570"/>
          </a:xfrm>
        </p:grpSpPr>
        <p:sp>
          <p:nvSpPr>
            <p:cNvPr id="21" name="Google Shape;21;g36fd9898095_0_16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16050" tIns="116050" rIns="116050" bIns="116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22;g36fd9898095_0_16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16050" tIns="116050" rIns="116050" bIns="116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23;g36fd9898095_0_166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16050" tIns="116050" rIns="116050" bIns="116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24;g36fd9898095_0_16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16050" tIns="116050" rIns="116050" bIns="116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25;g36fd9898095_0_16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16050" tIns="116050" rIns="116050" bIns="116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6" name="Google Shape;26;g36fd9898095_0_166"/>
          <p:cNvSpPr txBox="1">
            <a:spLocks noGrp="1"/>
          </p:cNvSpPr>
          <p:nvPr>
            <p:ph type="title"/>
          </p:nvPr>
        </p:nvSpPr>
        <p:spPr>
          <a:xfrm>
            <a:off x="699445" y="3162090"/>
            <a:ext cx="9615300" cy="1232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g36fd9898095_0_166"/>
          <p:cNvSpPr txBox="1">
            <a:spLocks noGrp="1"/>
          </p:cNvSpPr>
          <p:nvPr>
            <p:ph type="sldNum" idx="12"/>
          </p:nvPr>
        </p:nvSpPr>
        <p:spPr>
          <a:xfrm>
            <a:off x="9894004" y="6833230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g36fd9898095_0_175"/>
          <p:cNvGrpSpPr/>
          <p:nvPr/>
        </p:nvGrpSpPr>
        <p:grpSpPr>
          <a:xfrm>
            <a:off x="0" y="5734880"/>
            <a:ext cx="10692994" cy="1821574"/>
            <a:chOff x="0" y="3903669"/>
            <a:chExt cx="9144000" cy="1239925"/>
          </a:xfrm>
        </p:grpSpPr>
        <p:sp>
          <p:nvSpPr>
            <p:cNvPr id="30" name="Google Shape;30;g36fd9898095_0_17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16050" tIns="116050" rIns="116050" bIns="116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31;g36fd9898095_0_17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16050" tIns="116050" rIns="116050" bIns="116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32;g36fd9898095_0_17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16050" tIns="116050" rIns="116050" bIns="116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33;g36fd9898095_0_17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16050" tIns="116050" rIns="116050" bIns="116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34;g36fd9898095_0_17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6050" tIns="116050" rIns="116050" bIns="116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5" name="Google Shape;35;g36fd9898095_0_175"/>
          <p:cNvSpPr txBox="1">
            <a:spLocks noGrp="1"/>
          </p:cNvSpPr>
          <p:nvPr>
            <p:ph type="title"/>
          </p:nvPr>
        </p:nvSpPr>
        <p:spPr>
          <a:xfrm>
            <a:off x="364516" y="602346"/>
            <a:ext cx="9964500" cy="8928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36" name="Google Shape;36;g36fd9898095_0_175"/>
          <p:cNvSpPr txBox="1">
            <a:spLocks noGrp="1"/>
          </p:cNvSpPr>
          <p:nvPr>
            <p:ph type="body" idx="1"/>
          </p:nvPr>
        </p:nvSpPr>
        <p:spPr>
          <a:xfrm>
            <a:off x="364516" y="1806853"/>
            <a:ext cx="9964500" cy="49053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7" name="Google Shape;37;g36fd9898095_0_175"/>
          <p:cNvSpPr txBox="1">
            <a:spLocks noGrp="1"/>
          </p:cNvSpPr>
          <p:nvPr>
            <p:ph type="sldNum" idx="12"/>
          </p:nvPr>
        </p:nvSpPr>
        <p:spPr>
          <a:xfrm>
            <a:off x="9894004" y="6833230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6fd9898095_0_185"/>
          <p:cNvSpPr txBox="1">
            <a:spLocks noGrp="1"/>
          </p:cNvSpPr>
          <p:nvPr>
            <p:ph type="title"/>
          </p:nvPr>
        </p:nvSpPr>
        <p:spPr>
          <a:xfrm>
            <a:off x="364516" y="602346"/>
            <a:ext cx="9964500" cy="8928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40" name="Google Shape;40;g36fd9898095_0_185"/>
          <p:cNvSpPr txBox="1">
            <a:spLocks noGrp="1"/>
          </p:cNvSpPr>
          <p:nvPr>
            <p:ph type="body" idx="1"/>
          </p:nvPr>
        </p:nvSpPr>
        <p:spPr>
          <a:xfrm>
            <a:off x="364516" y="1807000"/>
            <a:ext cx="4677600" cy="49053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41" name="Google Shape;41;g36fd9898095_0_185"/>
          <p:cNvSpPr txBox="1">
            <a:spLocks noGrp="1"/>
          </p:cNvSpPr>
          <p:nvPr>
            <p:ph type="body" idx="2"/>
          </p:nvPr>
        </p:nvSpPr>
        <p:spPr>
          <a:xfrm>
            <a:off x="5651223" y="1807000"/>
            <a:ext cx="4677600" cy="49053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42" name="Google Shape;42;g36fd9898095_0_185"/>
          <p:cNvSpPr txBox="1">
            <a:spLocks noGrp="1"/>
          </p:cNvSpPr>
          <p:nvPr>
            <p:ph type="sldNum" idx="12"/>
          </p:nvPr>
        </p:nvSpPr>
        <p:spPr>
          <a:xfrm>
            <a:off x="9894004" y="6833230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6fd9898095_0_190"/>
          <p:cNvSpPr txBox="1">
            <a:spLocks noGrp="1"/>
          </p:cNvSpPr>
          <p:nvPr>
            <p:ph type="title"/>
          </p:nvPr>
        </p:nvSpPr>
        <p:spPr>
          <a:xfrm>
            <a:off x="364516" y="602346"/>
            <a:ext cx="9964500" cy="8928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45" name="Google Shape;45;g36fd9898095_0_190"/>
          <p:cNvSpPr txBox="1">
            <a:spLocks noGrp="1"/>
          </p:cNvSpPr>
          <p:nvPr>
            <p:ph type="sldNum" idx="12"/>
          </p:nvPr>
        </p:nvSpPr>
        <p:spPr>
          <a:xfrm>
            <a:off x="9894004" y="6833230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6fd9898095_0_193"/>
          <p:cNvSpPr txBox="1">
            <a:spLocks noGrp="1"/>
          </p:cNvSpPr>
          <p:nvPr>
            <p:ph type="title"/>
          </p:nvPr>
        </p:nvSpPr>
        <p:spPr>
          <a:xfrm>
            <a:off x="364516" y="816252"/>
            <a:ext cx="3283800" cy="1110300"/>
          </a:xfrm>
          <a:prstGeom prst="rect">
            <a:avLst/>
          </a:prstGeom>
        </p:spPr>
        <p:txBody>
          <a:bodyPr spcFirstLastPara="1" wrap="square" lIns="116050" tIns="116050" rIns="116050" bIns="11605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" name="Google Shape;48;g36fd9898095_0_193"/>
          <p:cNvSpPr txBox="1">
            <a:spLocks noGrp="1"/>
          </p:cNvSpPr>
          <p:nvPr>
            <p:ph type="body" idx="1"/>
          </p:nvPr>
        </p:nvSpPr>
        <p:spPr>
          <a:xfrm>
            <a:off x="364516" y="2153465"/>
            <a:ext cx="3283800" cy="45591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49" name="Google Shape;49;g36fd9898095_0_193"/>
          <p:cNvSpPr txBox="1">
            <a:spLocks noGrp="1"/>
          </p:cNvSpPr>
          <p:nvPr>
            <p:ph type="sldNum" idx="12"/>
          </p:nvPr>
        </p:nvSpPr>
        <p:spPr>
          <a:xfrm>
            <a:off x="9894004" y="6833230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g36fd9898095_0_197"/>
          <p:cNvGrpSpPr/>
          <p:nvPr/>
        </p:nvGrpSpPr>
        <p:grpSpPr>
          <a:xfrm>
            <a:off x="7131443" y="7"/>
            <a:ext cx="3561554" cy="2983111"/>
            <a:chOff x="6098378" y="5"/>
            <a:chExt cx="3045625" cy="2030570"/>
          </a:xfrm>
        </p:grpSpPr>
        <p:sp>
          <p:nvSpPr>
            <p:cNvPr id="52" name="Google Shape;52;g36fd9898095_0_19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16050" tIns="116050" rIns="116050" bIns="116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53;g36fd9898095_0_19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16050" tIns="116050" rIns="116050" bIns="116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54;g36fd9898095_0_197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16050" tIns="116050" rIns="116050" bIns="116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55;g36fd9898095_0_19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16050" tIns="116050" rIns="116050" bIns="116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56;g36fd9898095_0_19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16050" tIns="116050" rIns="116050" bIns="116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7" name="Google Shape;57;g36fd9898095_0_197"/>
          <p:cNvSpPr txBox="1">
            <a:spLocks noGrp="1"/>
          </p:cNvSpPr>
          <p:nvPr>
            <p:ph type="title"/>
          </p:nvPr>
        </p:nvSpPr>
        <p:spPr>
          <a:xfrm>
            <a:off x="573320" y="773280"/>
            <a:ext cx="6570900" cy="60099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g36fd9898095_0_197"/>
          <p:cNvSpPr txBox="1">
            <a:spLocks noGrp="1"/>
          </p:cNvSpPr>
          <p:nvPr>
            <p:ph type="sldNum" idx="12"/>
          </p:nvPr>
        </p:nvSpPr>
        <p:spPr>
          <a:xfrm>
            <a:off x="9894004" y="6833230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fd9898095_0_206"/>
          <p:cNvSpPr/>
          <p:nvPr/>
        </p:nvSpPr>
        <p:spPr>
          <a:xfrm>
            <a:off x="5346700" y="-257"/>
            <a:ext cx="5346600" cy="755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16050" tIns="116050" rIns="116050" bIns="116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61" name="Google Shape;61;g36fd9898095_0_206"/>
          <p:cNvCxnSpPr/>
          <p:nvPr/>
        </p:nvCxnSpPr>
        <p:spPr>
          <a:xfrm>
            <a:off x="5881925" y="6604500"/>
            <a:ext cx="547800" cy="0"/>
          </a:xfrm>
          <a:prstGeom prst="straightConnector1">
            <a:avLst/>
          </a:prstGeom>
          <a:noFill/>
          <a:ln w="241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g36fd9898095_0_206"/>
          <p:cNvSpPr txBox="1">
            <a:spLocks noGrp="1"/>
          </p:cNvSpPr>
          <p:nvPr>
            <p:ph type="title"/>
          </p:nvPr>
        </p:nvSpPr>
        <p:spPr>
          <a:xfrm>
            <a:off x="310488" y="1691122"/>
            <a:ext cx="4730700" cy="2298600"/>
          </a:xfrm>
          <a:prstGeom prst="rect">
            <a:avLst/>
          </a:prstGeom>
        </p:spPr>
        <p:txBody>
          <a:bodyPr spcFirstLastPara="1" wrap="square" lIns="116050" tIns="116050" rIns="116050" bIns="1160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63" name="Google Shape;63;g36fd9898095_0_206"/>
          <p:cNvSpPr txBox="1">
            <a:spLocks noGrp="1"/>
          </p:cNvSpPr>
          <p:nvPr>
            <p:ph type="subTitle" idx="1"/>
          </p:nvPr>
        </p:nvSpPr>
        <p:spPr>
          <a:xfrm>
            <a:off x="310488" y="4068039"/>
            <a:ext cx="4730700" cy="18648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64" name="Google Shape;64;g36fd9898095_0_206"/>
          <p:cNvSpPr txBox="1">
            <a:spLocks noGrp="1"/>
          </p:cNvSpPr>
          <p:nvPr>
            <p:ph type="body" idx="2"/>
          </p:nvPr>
        </p:nvSpPr>
        <p:spPr>
          <a:xfrm>
            <a:off x="5776471" y="1063948"/>
            <a:ext cx="4487100" cy="54285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●"/>
              <a:defRPr>
                <a:solidFill>
                  <a:schemeClr val="lt1"/>
                </a:solidFill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g36fd9898095_0_206"/>
          <p:cNvSpPr txBox="1">
            <a:spLocks noGrp="1"/>
          </p:cNvSpPr>
          <p:nvPr>
            <p:ph type="sldNum" idx="12"/>
          </p:nvPr>
        </p:nvSpPr>
        <p:spPr>
          <a:xfrm>
            <a:off x="9894004" y="6833230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fd9898095_0_213"/>
          <p:cNvSpPr txBox="1">
            <a:spLocks noGrp="1"/>
          </p:cNvSpPr>
          <p:nvPr>
            <p:ph type="body" idx="1"/>
          </p:nvPr>
        </p:nvSpPr>
        <p:spPr>
          <a:xfrm>
            <a:off x="373638" y="6215289"/>
            <a:ext cx="7015200" cy="8796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</a:lstStyle>
          <a:p/>
        </p:txBody>
      </p:sp>
      <p:sp>
        <p:nvSpPr>
          <p:cNvPr id="68" name="Google Shape;68;g36fd9898095_0_213"/>
          <p:cNvSpPr txBox="1">
            <a:spLocks noGrp="1"/>
          </p:cNvSpPr>
          <p:nvPr>
            <p:ph type="sldNum" idx="12"/>
          </p:nvPr>
        </p:nvSpPr>
        <p:spPr>
          <a:xfrm>
            <a:off x="9894004" y="6833230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g36fd9898095_0_216"/>
          <p:cNvGrpSpPr/>
          <p:nvPr/>
        </p:nvGrpSpPr>
        <p:grpSpPr>
          <a:xfrm>
            <a:off x="7131443" y="7"/>
            <a:ext cx="3561554" cy="2983111"/>
            <a:chOff x="6098378" y="5"/>
            <a:chExt cx="3045625" cy="2030570"/>
          </a:xfrm>
        </p:grpSpPr>
        <p:sp>
          <p:nvSpPr>
            <p:cNvPr id="71" name="Google Shape;71;g36fd9898095_0_21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16050" tIns="116050" rIns="116050" bIns="116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72;g36fd9898095_0_21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16050" tIns="116050" rIns="116050" bIns="116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73;g36fd9898095_0_216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16050" tIns="116050" rIns="116050" bIns="116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74;g36fd9898095_0_21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16050" tIns="116050" rIns="116050" bIns="116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75;g36fd9898095_0_21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16050" tIns="116050" rIns="116050" bIns="116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6" name="Google Shape;76;g36fd9898095_0_216"/>
          <p:cNvSpPr txBox="1">
            <a:spLocks noGrp="1"/>
          </p:cNvSpPr>
          <p:nvPr>
            <p:ph type="title" hasCustomPrompt="1"/>
          </p:nvPr>
        </p:nvSpPr>
        <p:spPr>
          <a:xfrm>
            <a:off x="364516" y="1845308"/>
            <a:ext cx="9964500" cy="2983500"/>
          </a:xfrm>
          <a:prstGeom prst="rect">
            <a:avLst/>
          </a:prstGeom>
        </p:spPr>
        <p:txBody>
          <a:bodyPr spcFirstLastPara="1" wrap="square" lIns="116050" tIns="116050" rIns="116050" bIns="1160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0"/>
              <a:buNone/>
              <a:defRPr sz="1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0"/>
              <a:buNone/>
              <a:defRPr sz="1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0"/>
              <a:buNone/>
              <a:defRPr sz="1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0"/>
              <a:buNone/>
              <a:defRPr sz="1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0"/>
              <a:buNone/>
              <a:defRPr sz="1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0"/>
              <a:buNone/>
              <a:defRPr sz="1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0"/>
              <a:buNone/>
              <a:defRPr sz="1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0"/>
              <a:buNone/>
              <a:defRPr sz="1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0"/>
              <a:buNone/>
              <a:defRPr sz="15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g36fd9898095_0_216"/>
          <p:cNvSpPr txBox="1">
            <a:spLocks noGrp="1"/>
          </p:cNvSpPr>
          <p:nvPr>
            <p:ph type="body" idx="1"/>
          </p:nvPr>
        </p:nvSpPr>
        <p:spPr>
          <a:xfrm>
            <a:off x="364516" y="4949849"/>
            <a:ext cx="9964500" cy="1883400"/>
          </a:xfrm>
          <a:prstGeom prst="rect">
            <a:avLst/>
          </a:prstGeom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746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●"/>
              <a:defRPr>
                <a:solidFill>
                  <a:schemeClr val="lt1"/>
                </a:solidFill>
              </a:defRPr>
            </a:lvl1pPr>
            <a:lvl2pPr marL="914400" lvl="1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2pPr>
            <a:lvl3pPr marL="1371600" lvl="2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3pPr>
            <a:lvl4pPr marL="1828800" lvl="3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marL="2286000" lvl="4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5pPr>
            <a:lvl6pPr marL="2743200" lvl="5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6pPr>
            <a:lvl7pPr marL="3200400" lvl="6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7pPr>
            <a:lvl8pPr marL="3657600" lvl="7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8pPr>
            <a:lvl9pPr marL="4114800" lvl="8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g36fd9898095_0_216"/>
          <p:cNvSpPr txBox="1">
            <a:spLocks noGrp="1"/>
          </p:cNvSpPr>
          <p:nvPr>
            <p:ph type="sldNum" idx="12"/>
          </p:nvPr>
        </p:nvSpPr>
        <p:spPr>
          <a:xfrm>
            <a:off x="9894004" y="6833230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fd9898095_0_226"/>
          <p:cNvSpPr txBox="1">
            <a:spLocks noGrp="1"/>
          </p:cNvSpPr>
          <p:nvPr>
            <p:ph type="sldNum" idx="12"/>
          </p:nvPr>
        </p:nvSpPr>
        <p:spPr>
          <a:xfrm>
            <a:off x="9894004" y="6833230"/>
            <a:ext cx="641700" cy="578400"/>
          </a:xfrm>
          <a:prstGeom prst="rect">
            <a:avLst/>
          </a:prstGeom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6fd9898095_0_152"/>
          <p:cNvSpPr txBox="1">
            <a:spLocks noGrp="1"/>
          </p:cNvSpPr>
          <p:nvPr>
            <p:ph type="title"/>
          </p:nvPr>
        </p:nvSpPr>
        <p:spPr>
          <a:xfrm>
            <a:off x="364516" y="602346"/>
            <a:ext cx="99645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" panose="02000000000000000000"/>
              <a:buNone/>
              <a:defRPr sz="3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" panose="02000000000000000000"/>
              <a:buNone/>
              <a:defRPr sz="3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" panose="02000000000000000000"/>
              <a:buNone/>
              <a:defRPr sz="3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" panose="02000000000000000000"/>
              <a:buNone/>
              <a:defRPr sz="3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" panose="02000000000000000000"/>
              <a:buNone/>
              <a:defRPr sz="3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" panose="02000000000000000000"/>
              <a:buNone/>
              <a:defRPr sz="3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" panose="02000000000000000000"/>
              <a:buNone/>
              <a:defRPr sz="3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" panose="02000000000000000000"/>
              <a:buNone/>
              <a:defRPr sz="3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" panose="02000000000000000000"/>
              <a:buNone/>
              <a:defRPr sz="3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7" name="Google Shape;7;g36fd9898095_0_152"/>
          <p:cNvSpPr txBox="1">
            <a:spLocks noGrp="1"/>
          </p:cNvSpPr>
          <p:nvPr>
            <p:ph type="body" idx="1"/>
          </p:nvPr>
        </p:nvSpPr>
        <p:spPr>
          <a:xfrm>
            <a:off x="364516" y="1806853"/>
            <a:ext cx="9964500" cy="49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t" anchorCtr="0">
            <a:normAutofit/>
          </a:bodyPr>
          <a:lstStyle>
            <a:lvl1pPr marL="457200" lvl="0" indent="-3746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Roboto" panose="02000000000000000000"/>
              <a:buChar char="●"/>
              <a:defRPr sz="23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 panose="02000000000000000000"/>
              <a:buChar char="○"/>
              <a:defRPr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 panose="02000000000000000000"/>
              <a:buChar char="■"/>
              <a:defRPr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 panose="02000000000000000000"/>
              <a:buChar char="●"/>
              <a:defRPr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 panose="02000000000000000000"/>
              <a:buChar char="○"/>
              <a:defRPr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 panose="02000000000000000000"/>
              <a:buChar char="■"/>
              <a:defRPr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 panose="02000000000000000000"/>
              <a:buChar char="●"/>
              <a:defRPr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 panose="02000000000000000000"/>
              <a:buChar char="○"/>
              <a:defRPr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 panose="02000000000000000000"/>
              <a:buChar char="■"/>
              <a:defRPr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8" name="Google Shape;8;g36fd9898095_0_152"/>
          <p:cNvSpPr txBox="1">
            <a:spLocks noGrp="1"/>
          </p:cNvSpPr>
          <p:nvPr>
            <p:ph type="sldNum" idx="12"/>
          </p:nvPr>
        </p:nvSpPr>
        <p:spPr>
          <a:xfrm>
            <a:off x="9894004" y="6833230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ctr" anchorCtr="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986335" y="6992936"/>
            <a:ext cx="2923977" cy="416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013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0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www.ncda.gov.rw</a:t>
            </a:r>
            <a:endParaRPr kumimoji="0" lang="en-US" sz="2105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0"/>
            <a:ext cx="10693400" cy="7681144"/>
            <a:chOff x="0" y="0"/>
            <a:chExt cx="12192000" cy="6971122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971122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 userDrawn="1"/>
          </p:nvSpPr>
          <p:spPr>
            <a:xfrm>
              <a:off x="2247900" y="6197600"/>
              <a:ext cx="6756400" cy="610595"/>
            </a:xfrm>
            <a:prstGeom prst="rect">
              <a:avLst/>
            </a:prstGeom>
            <a:solidFill>
              <a:srgbClr val="00B8A5"/>
            </a:solidFill>
            <a:ln>
              <a:solidFill>
                <a:srgbClr val="00B8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013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5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extBox 9"/>
          <p:cNvSpPr txBox="1"/>
          <p:nvPr userDrawn="1"/>
        </p:nvSpPr>
        <p:spPr>
          <a:xfrm>
            <a:off x="3137082" y="6551276"/>
            <a:ext cx="4445448" cy="524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013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5" b="1" i="0" u="none" strike="noStrike" kern="1200" cap="none" spc="0" normalizeH="0" baseline="0" noProof="0" dirty="0" smtClean="0">
                <a:ln>
                  <a:noFill/>
                </a:ln>
                <a:solidFill>
                  <a:srgbClr val="2F2D92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Gender Monitoring Office</a:t>
            </a:r>
            <a:endParaRPr kumimoji="0" lang="en-US" sz="2805" b="1" i="0" u="none" strike="noStrike" kern="1200" cap="none" spc="0" normalizeH="0" baseline="0" noProof="0" dirty="0">
              <a:ln>
                <a:noFill/>
              </a:ln>
              <a:solidFill>
                <a:srgbClr val="2F2D92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802005" rtl="0" eaLnBrk="1" latinLnBrk="0" hangingPunct="1">
        <a:lnSpc>
          <a:spcPct val="90000"/>
        </a:lnSpc>
        <a:spcBef>
          <a:spcPct val="0"/>
        </a:spcBef>
        <a:buNone/>
        <a:defRPr sz="3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660" indent="-200660" algn="l" defTabSz="802005" rtl="0" eaLnBrk="1" latinLnBrk="0" hangingPunct="1">
        <a:lnSpc>
          <a:spcPct val="90000"/>
        </a:lnSpc>
        <a:spcBef>
          <a:spcPts val="875"/>
        </a:spcBef>
        <a:buFont typeface="Arial" panose="020B0604020202020204" pitchFamily="34" charset="0"/>
        <a:buChar char="•"/>
        <a:defRPr sz="2455" kern="1200">
          <a:solidFill>
            <a:schemeClr val="tx1"/>
          </a:solidFill>
          <a:latin typeface="+mn-lt"/>
          <a:ea typeface="+mn-ea"/>
          <a:cs typeface="+mn-cs"/>
        </a:defRPr>
      </a:lvl1pPr>
      <a:lvl2pPr marL="601345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02665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755" kern="1200">
          <a:solidFill>
            <a:schemeClr val="tx1"/>
          </a:solidFill>
          <a:latin typeface="+mn-lt"/>
          <a:ea typeface="+mn-ea"/>
          <a:cs typeface="+mn-cs"/>
        </a:defRPr>
      </a:lvl3pPr>
      <a:lvl4pPr marL="1403350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4pPr>
      <a:lvl5pPr marL="1804670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5pPr>
      <a:lvl6pPr marL="2205355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6pPr>
      <a:lvl7pPr marL="2606675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7pPr>
      <a:lvl8pPr marL="3007360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8pPr>
      <a:lvl9pPr marL="3408680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1pPr>
      <a:lvl2pPr marL="40132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2pPr>
      <a:lvl3pPr marL="802005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3pPr>
      <a:lvl4pPr marL="1203325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4pPr>
      <a:lvl5pPr marL="160401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5pPr>
      <a:lvl6pPr marL="200533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6pPr>
      <a:lvl7pPr marL="2406015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7pPr>
      <a:lvl8pPr marL="2807335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8pPr>
      <a:lvl9pPr marL="320802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microsoft.com/office/2007/relationships/hdphoto" Target="../media/image5.wdp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28625" y="2373328"/>
            <a:ext cx="9839325" cy="1825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01320">
              <a:lnSpc>
                <a:spcPct val="150000"/>
              </a:lnSpc>
              <a:buClrTx/>
            </a:pPr>
            <a:r>
              <a:rPr lang="en-US" altLang="en-GB" sz="4000" b="1" dirty="0">
                <a:solidFill>
                  <a:schemeClr val="accent1"/>
                </a:solidFill>
                <a:sym typeface="+mn-ea"/>
              </a:rPr>
              <a:t>Interactive G</a:t>
            </a:r>
            <a:r>
              <a:rPr lang="en-GB" altLang="en-US" sz="4000" b="1" dirty="0">
                <a:solidFill>
                  <a:schemeClr val="accent1"/>
                </a:solidFill>
                <a:sym typeface="+mn-ea"/>
              </a:rPr>
              <a:t>ender </a:t>
            </a:r>
            <a:r>
              <a:rPr lang="en-US" altLang="en-GB" sz="4000" b="1" dirty="0">
                <a:solidFill>
                  <a:schemeClr val="accent1"/>
                </a:solidFill>
                <a:sym typeface="+mn-ea"/>
              </a:rPr>
              <a:t>B</a:t>
            </a:r>
            <a:r>
              <a:rPr lang="en-GB" altLang="en-US" sz="4000" b="1" dirty="0" smtClean="0">
                <a:solidFill>
                  <a:schemeClr val="accent1"/>
                </a:solidFill>
                <a:sym typeface="+mn-ea"/>
              </a:rPr>
              <a:t>ased </a:t>
            </a:r>
            <a:r>
              <a:rPr lang="en-US" altLang="en-GB" sz="4000" b="1" dirty="0">
                <a:solidFill>
                  <a:schemeClr val="accent1"/>
                </a:solidFill>
                <a:sym typeface="+mn-ea"/>
              </a:rPr>
              <a:t>V</a:t>
            </a:r>
            <a:r>
              <a:rPr lang="en-GB" altLang="en-US" sz="4000" b="1" dirty="0" smtClean="0">
                <a:solidFill>
                  <a:schemeClr val="accent1"/>
                </a:solidFill>
                <a:sym typeface="+mn-ea"/>
              </a:rPr>
              <a:t>iolence</a:t>
            </a:r>
            <a:r>
              <a:rPr lang="en-US" altLang="en-GB" sz="4000" b="1" dirty="0" smtClean="0">
                <a:solidFill>
                  <a:schemeClr val="accent1"/>
                </a:solidFill>
                <a:sym typeface="+mn-ea"/>
              </a:rPr>
              <a:t> </a:t>
            </a:r>
            <a:r>
              <a:rPr lang="en-US" altLang="en-GB" sz="4000" b="1" dirty="0">
                <a:solidFill>
                  <a:schemeClr val="accent1"/>
                </a:solidFill>
                <a:sym typeface="+mn-ea"/>
              </a:rPr>
              <a:t>Monitoring Dashboard</a:t>
            </a:r>
            <a:endParaRPr lang="en-US" sz="4000" kern="1200" dirty="0">
              <a:solidFill>
                <a:schemeClr val="accent1"/>
              </a:solidFill>
              <a:latin typeface="Trebuchet MS" panose="020B0603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" name="Google Shape;87;p1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049400" y="7229474"/>
            <a:ext cx="9285225" cy="47896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6;p13"/>
          <p:cNvSpPr txBox="1"/>
          <p:nvPr/>
        </p:nvSpPr>
        <p:spPr>
          <a:xfrm>
            <a:off x="7115175" y="5291920"/>
            <a:ext cx="3420635" cy="416029"/>
          </a:xfrm>
          <a:prstGeom prst="rect">
            <a:avLst/>
          </a:prstGeom>
        </p:spPr>
        <p:txBody>
          <a:bodyPr spcFirstLastPara="1" wrap="square" lIns="106916" tIns="106916" rIns="106916" bIns="106916" anchor="t" anchorCtr="0">
            <a:noAutofit/>
          </a:bodyPr>
          <a:lstStyle>
            <a:lvl1pPr marL="200660" indent="-200660" algn="l" defTabSz="802005" rtl="0" eaLnBrk="1" latinLnBrk="0" hangingPunct="1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1345" indent="-200660" algn="l" defTabSz="802005" rtl="0" eaLnBrk="1" latinLnBrk="0" hangingPunct="1">
              <a:lnSpc>
                <a:spcPct val="90000"/>
              </a:lnSpc>
              <a:spcBef>
                <a:spcPts val="440"/>
              </a:spcBef>
              <a:buFont typeface="Arial" panose="020B0604020202020204" pitchFamily="34" charset="0"/>
              <a:buChar char="•"/>
              <a:defRPr sz="21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2665" indent="-200660" algn="l" defTabSz="802005" rtl="0" eaLnBrk="1" latinLnBrk="0" hangingPunct="1">
              <a:lnSpc>
                <a:spcPct val="90000"/>
              </a:lnSpc>
              <a:spcBef>
                <a:spcPts val="440"/>
              </a:spcBef>
              <a:buFont typeface="Arial" panose="020B0604020202020204" pitchFamily="34" charset="0"/>
              <a:buChar char="•"/>
              <a:defRPr sz="17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350" indent="-200660" algn="l" defTabSz="802005" rtl="0" eaLnBrk="1" latinLnBrk="0" hangingPunct="1">
              <a:lnSpc>
                <a:spcPct val="90000"/>
              </a:lnSpc>
              <a:spcBef>
                <a:spcPts val="440"/>
              </a:spcBef>
              <a:buFont typeface="Arial" panose="020B0604020202020204" pitchFamily="34" charset="0"/>
              <a:buChar char="•"/>
              <a:defRPr sz="15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4670" indent="-200660" algn="l" defTabSz="802005" rtl="0" eaLnBrk="1" latinLnBrk="0" hangingPunct="1">
              <a:lnSpc>
                <a:spcPct val="90000"/>
              </a:lnSpc>
              <a:spcBef>
                <a:spcPts val="440"/>
              </a:spcBef>
              <a:buFont typeface="Arial" panose="020B0604020202020204" pitchFamily="34" charset="0"/>
              <a:buChar char="•"/>
              <a:defRPr sz="15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05355" indent="-200660" algn="l" defTabSz="802005" rtl="0" eaLnBrk="1" latinLnBrk="0" hangingPunct="1">
              <a:lnSpc>
                <a:spcPct val="90000"/>
              </a:lnSpc>
              <a:spcBef>
                <a:spcPts val="440"/>
              </a:spcBef>
              <a:buFont typeface="Arial" panose="020B0604020202020204" pitchFamily="34" charset="0"/>
              <a:buChar char="•"/>
              <a:defRPr sz="15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6675" indent="-200660" algn="l" defTabSz="802005" rtl="0" eaLnBrk="1" latinLnBrk="0" hangingPunct="1">
              <a:lnSpc>
                <a:spcPct val="90000"/>
              </a:lnSpc>
              <a:spcBef>
                <a:spcPts val="440"/>
              </a:spcBef>
              <a:buFont typeface="Arial" panose="020B0604020202020204" pitchFamily="34" charset="0"/>
              <a:buChar char="•"/>
              <a:defRPr sz="15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7360" indent="-200660" algn="l" defTabSz="802005" rtl="0" eaLnBrk="1" latinLnBrk="0" hangingPunct="1">
              <a:lnSpc>
                <a:spcPct val="90000"/>
              </a:lnSpc>
              <a:spcBef>
                <a:spcPts val="440"/>
              </a:spcBef>
              <a:buFont typeface="Arial" panose="020B0604020202020204" pitchFamily="34" charset="0"/>
              <a:buChar char="•"/>
              <a:defRPr sz="15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8680" indent="-200660" algn="l" defTabSz="802005" rtl="0" eaLnBrk="1" latinLnBrk="0" hangingPunct="1">
              <a:lnSpc>
                <a:spcPct val="90000"/>
              </a:lnSpc>
              <a:spcBef>
                <a:spcPts val="440"/>
              </a:spcBef>
              <a:buFont typeface="Arial" panose="020B0604020202020204" pitchFamily="34" charset="0"/>
              <a:buChar char="•"/>
              <a:defRPr sz="15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None/>
            </a:pPr>
            <a:r>
              <a:rPr lang="en-GB" sz="3040" b="1" dirty="0" smtClean="0"/>
              <a:t>MUKAKALISA Diane</a:t>
            </a:r>
            <a:endParaRPr lang="en-GB" sz="304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157862" y="71983"/>
            <a:ext cx="10819000" cy="7484517"/>
          </a:xfrm>
          <a:custGeom>
            <a:avLst/>
            <a:gdLst/>
            <a:ahLst/>
            <a:cxnLst/>
            <a:rect l="l" t="t" r="r" b="b"/>
            <a:pathLst>
              <a:path w="10819000" h="6141253" extrusionOk="0">
                <a:moveTo>
                  <a:pt x="0" y="0"/>
                </a:moveTo>
                <a:lnTo>
                  <a:pt x="10819000" y="0"/>
                </a:lnTo>
                <a:lnTo>
                  <a:pt x="10819000" y="6141254"/>
                </a:lnTo>
                <a:lnTo>
                  <a:pt x="0" y="6141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3" name="Google Shape;93;p2"/>
          <p:cNvSpPr txBox="1"/>
          <p:nvPr/>
        </p:nvSpPr>
        <p:spPr>
          <a:xfrm>
            <a:off x="636155" y="322578"/>
            <a:ext cx="7583919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2A399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Project overview and rationale</a:t>
            </a:r>
            <a:endParaRPr sz="3600" b="1" dirty="0"/>
          </a:p>
        </p:txBody>
      </p:sp>
      <p:sp>
        <p:nvSpPr>
          <p:cNvPr id="94" name="Google Shape;94;p2"/>
          <p:cNvSpPr txBox="1"/>
          <p:nvPr/>
        </p:nvSpPr>
        <p:spPr>
          <a:xfrm>
            <a:off x="361950" y="1418748"/>
            <a:ext cx="10410825" cy="4254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>
              <a:buSzPts val="1800"/>
            </a:pPr>
            <a:r>
              <a:rPr lang="en-US" sz="2400" b="1" i="0" u="none" strike="noStrike" cap="none" dirty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Problem statement:</a:t>
            </a:r>
            <a:r>
              <a:rPr lang="en-US" sz="2400" b="0" i="0" u="none" strike="noStrike" cap="none" dirty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 </a:t>
            </a:r>
            <a:endParaRPr lang="en-GB" sz="2400" dirty="0"/>
          </a:p>
          <a:p>
            <a:pPr marL="114300" lvl="0">
              <a:buSzPts val="1800"/>
            </a:pPr>
            <a:r>
              <a:rPr lang="en-GB" sz="2400" dirty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</a:rPr>
              <a:t>GMO’s ability to generate timely, data-driven insights is constrained by fragmented internal reporting and the absence of an integrated, real-time analytics system. </a:t>
            </a:r>
            <a:r>
              <a:rPr lang="en-US" altLang="en-GB" sz="2400" dirty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</a:rPr>
              <a:t>This </a:t>
            </a:r>
            <a:r>
              <a:rPr lang="en-US" altLang="en-GB" sz="2400" dirty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</a:rPr>
              <a:t>hinders timely response, trend identification, and effective advocacy for </a:t>
            </a:r>
            <a:r>
              <a:rPr lang="en-US" altLang="en-GB" sz="2400" dirty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</a:rPr>
              <a:t>victim-centered </a:t>
            </a:r>
            <a:r>
              <a:rPr lang="en-US" altLang="en-GB" sz="2400" dirty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</a:rPr>
              <a:t>policies</a:t>
            </a:r>
            <a:r>
              <a:rPr lang="en-US" altLang="en-GB" sz="2400" dirty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</a:rPr>
              <a:t>.</a:t>
            </a:r>
            <a:endParaRPr lang="en-US" altLang="en-GB" sz="2400" dirty="0">
              <a:solidFill>
                <a:srgbClr val="434343"/>
              </a:solidFill>
              <a:latin typeface="IBM Plex Sans" panose="020B0503050203000203"/>
              <a:ea typeface="IBM Plex Sans" panose="020B0503050203000203"/>
              <a:cs typeface="IBM Plex Sans" panose="020B0503050203000203"/>
            </a:endParaRPr>
          </a:p>
          <a:p>
            <a:pPr marL="114300" lvl="0">
              <a:buSzPts val="1800"/>
            </a:pPr>
            <a:endParaRPr lang="en-US" altLang="en-GB" sz="2400" dirty="0">
              <a:solidFill>
                <a:srgbClr val="434343"/>
              </a:solidFill>
              <a:latin typeface="IBM Plex Sans" panose="020B0503050203000203"/>
              <a:ea typeface="IBM Plex Sans" panose="020B0503050203000203"/>
              <a:cs typeface="IBM Plex Sans" panose="020B0503050203000203"/>
            </a:endParaRPr>
          </a:p>
          <a:p>
            <a:pPr marL="95250" lvl="0">
              <a:lnSpc>
                <a:spcPct val="138000"/>
              </a:lnSpc>
              <a:buClr>
                <a:srgbClr val="434343"/>
              </a:buClr>
              <a:buSzPts val="2104"/>
            </a:pPr>
            <a:r>
              <a:rPr lang="en-US" sz="2400" b="1" dirty="0" smtClean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Relevance</a:t>
            </a:r>
            <a:r>
              <a:rPr lang="en-US" sz="2400" b="1" dirty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: </a:t>
            </a:r>
            <a:r>
              <a:rPr lang="en-GB" sz="2400" dirty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This project supports GMO’s </a:t>
            </a:r>
            <a:r>
              <a:rPr lang="en-GB" sz="2400" dirty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mandate to strengthen gender accountability by providing a unified digital system for GBV </a:t>
            </a:r>
            <a:r>
              <a:rPr lang="en-GB" sz="2400" dirty="0" smtClean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monitoring to enhance </a:t>
            </a:r>
            <a:r>
              <a:rPr lang="en-GB" sz="2400" dirty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evidence-based decision-making and </a:t>
            </a:r>
            <a:r>
              <a:rPr lang="en-GB" sz="2400" dirty="0" smtClean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this is aligned </a:t>
            </a:r>
            <a:r>
              <a:rPr lang="en-GB" sz="2400" dirty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with national commitments to prevent and respond to </a:t>
            </a:r>
            <a:r>
              <a:rPr lang="en-GB" sz="2400" dirty="0" smtClean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GBV</a:t>
            </a:r>
            <a:endParaRPr lang="en-GB" sz="2400" dirty="0" smtClean="0">
              <a:solidFill>
                <a:srgbClr val="434343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34037" y="0"/>
            <a:ext cx="10819000" cy="7484517"/>
          </a:xfrm>
          <a:custGeom>
            <a:avLst/>
            <a:gdLst/>
            <a:ahLst/>
            <a:cxnLst/>
            <a:rect l="l" t="t" r="r" b="b"/>
            <a:pathLst>
              <a:path w="10819000" h="6141253" extrusionOk="0">
                <a:moveTo>
                  <a:pt x="0" y="0"/>
                </a:moveTo>
                <a:lnTo>
                  <a:pt x="10819000" y="0"/>
                </a:lnTo>
                <a:lnTo>
                  <a:pt x="10819000" y="6141254"/>
                </a:lnTo>
                <a:lnTo>
                  <a:pt x="0" y="6141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4" name="Google Shape;94;p2"/>
          <p:cNvSpPr txBox="1"/>
          <p:nvPr/>
        </p:nvSpPr>
        <p:spPr>
          <a:xfrm>
            <a:off x="34037" y="117987"/>
            <a:ext cx="10525125" cy="4077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5250" lvl="0">
              <a:lnSpc>
                <a:spcPct val="138000"/>
              </a:lnSpc>
              <a:buClr>
                <a:srgbClr val="434343"/>
              </a:buClr>
              <a:buSzPts val="2104"/>
            </a:pPr>
            <a:r>
              <a:rPr lang="en-US" sz="3600" b="1" i="0" u="none" strike="noStrike" cap="none" dirty="0" smtClean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Objectives:</a:t>
            </a:r>
            <a:r>
              <a:rPr lang="en-US" sz="3600" b="0" i="0" u="none" strike="noStrike" cap="none" dirty="0" smtClean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 </a:t>
            </a:r>
            <a:endParaRPr lang="en-US" sz="3600" b="0" i="0" u="none" strike="noStrike" cap="none" dirty="0" smtClean="0">
              <a:solidFill>
                <a:srgbClr val="434343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438150" lvl="0" indent="-342900">
              <a:lnSpc>
                <a:spcPct val="138000"/>
              </a:lnSpc>
              <a:buClr>
                <a:srgbClr val="434343"/>
              </a:buClr>
              <a:buSzPts val="2104"/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Provide </a:t>
            </a:r>
            <a:r>
              <a:rPr lang="en-GB" sz="2400" dirty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disaggregated data by age, gender, type of violence, history about the victims and location(Districts) where GBV frequently </a:t>
            </a:r>
            <a:r>
              <a:rPr lang="en-GB" sz="2400" dirty="0" smtClean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happens</a:t>
            </a:r>
            <a:endParaRPr lang="en-GB" sz="2400" dirty="0" smtClean="0">
              <a:solidFill>
                <a:srgbClr val="434343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438150" indent="-342900">
              <a:lnSpc>
                <a:spcPct val="138000"/>
              </a:lnSpc>
              <a:buClr>
                <a:srgbClr val="434343"/>
              </a:buClr>
              <a:buSzPts val="2104"/>
              <a:buFont typeface="Arial" panose="020B0604020202020204" pitchFamily="34" charset="0"/>
              <a:buChar char="•"/>
            </a:pPr>
            <a:r>
              <a:rPr lang="en-GB" sz="2400" dirty="0">
                <a:sym typeface="+mn-ea"/>
              </a:rPr>
              <a:t>Track GBV trends over </a:t>
            </a:r>
            <a:r>
              <a:rPr lang="en-GB" sz="2400" dirty="0" smtClean="0">
                <a:sym typeface="+mn-ea"/>
              </a:rPr>
              <a:t>time</a:t>
            </a:r>
            <a:endParaRPr lang="en-GB" sz="2400" dirty="0" smtClean="0">
              <a:solidFill>
                <a:srgbClr val="434343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438150" lvl="0" indent="-342900">
              <a:lnSpc>
                <a:spcPct val="138000"/>
              </a:lnSpc>
              <a:buClr>
                <a:srgbClr val="434343"/>
              </a:buClr>
              <a:buSzPts val="2104"/>
              <a:buFont typeface="Arial" panose="020B0604020202020204" pitchFamily="34" charset="0"/>
              <a:buChar char="•"/>
            </a:pPr>
            <a:r>
              <a:rPr lang="en-GB" sz="2400" dirty="0" smtClean="0">
                <a:sym typeface="+mn-ea"/>
              </a:rPr>
              <a:t>Keep </a:t>
            </a:r>
            <a:r>
              <a:rPr lang="en-GB" sz="2400" dirty="0">
                <a:sym typeface="+mn-ea"/>
              </a:rPr>
              <a:t>track of the </a:t>
            </a:r>
            <a:r>
              <a:rPr lang="en-GB" sz="2400" dirty="0" smtClean="0">
                <a:sym typeface="+mn-ea"/>
              </a:rPr>
              <a:t>victims’ cases and  follow-up</a:t>
            </a:r>
            <a:endParaRPr lang="en-GB" sz="2400" dirty="0">
              <a:sym typeface="+mn-ea"/>
            </a:endParaRPr>
          </a:p>
          <a:p>
            <a:pPr marL="438150" lvl="0" indent="-342900">
              <a:lnSpc>
                <a:spcPct val="138000"/>
              </a:lnSpc>
              <a:buClr>
                <a:srgbClr val="434343"/>
              </a:buClr>
              <a:buSzPts val="2104"/>
              <a:buFont typeface="Arial" panose="020B0604020202020204" pitchFamily="34" charset="0"/>
              <a:buChar char="•"/>
            </a:pPr>
            <a:r>
              <a:rPr lang="en-GB" sz="2400" dirty="0" smtClean="0"/>
              <a:t>Generate </a:t>
            </a:r>
            <a:r>
              <a:rPr lang="en-GB" sz="2400" dirty="0"/>
              <a:t>descriptive analytics and insights for policy and </a:t>
            </a:r>
            <a:r>
              <a:rPr lang="en-GB" sz="2400" dirty="0" smtClean="0"/>
              <a:t>advocacy.</a:t>
            </a:r>
            <a:endParaRPr lang="en-GB" sz="2400" dirty="0" smtClean="0"/>
          </a:p>
          <a:p>
            <a:pPr marL="95250" lvl="0">
              <a:lnSpc>
                <a:spcPct val="138000"/>
              </a:lnSpc>
              <a:buClr>
                <a:srgbClr val="434343"/>
              </a:buClr>
              <a:buSzPts val="2104"/>
            </a:pPr>
            <a:r>
              <a:rPr lang="en-US" sz="3600" b="1" i="0" u="none" strike="noStrike" cap="none" dirty="0" smtClean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Team </a:t>
            </a:r>
            <a:r>
              <a:rPr lang="en-US" sz="3600" b="1" i="0" u="none" strike="noStrike" cap="none" dirty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roles:</a:t>
            </a:r>
            <a:r>
              <a:rPr lang="en-US" sz="3600" b="0" i="0" u="none" strike="noStrike" cap="none" dirty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 </a:t>
            </a:r>
            <a:endParaRPr lang="en-US" sz="3600" dirty="0">
              <a:solidFill>
                <a:srgbClr val="434343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04486" y="4126396"/>
          <a:ext cx="7558414" cy="284442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779207"/>
                <a:gridCol w="3779207"/>
              </a:tblGrid>
              <a:tr h="741301">
                <a:tc>
                  <a:txBody>
                    <a:bodyPr/>
                    <a:lstStyle/>
                    <a:p>
                      <a:r>
                        <a:rPr lang="en-GB" sz="2400" dirty="0" smtClean="0"/>
                        <a:t>Names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 smtClean="0"/>
                        <a:t>Roles</a:t>
                      </a:r>
                      <a:endParaRPr lang="en-GB" sz="2400" dirty="0"/>
                    </a:p>
                  </a:txBody>
                  <a:tcPr/>
                </a:tc>
              </a:tr>
              <a:tr h="1093110">
                <a:tc>
                  <a:txBody>
                    <a:bodyPr/>
                    <a:lstStyle/>
                    <a:p>
                      <a:r>
                        <a:rPr lang="en-GB" sz="2400" dirty="0" smtClean="0">
                          <a:sym typeface="IBM Plex Sans" panose="020B0503050203000203"/>
                        </a:rPr>
                        <a:t>MUKAKALISA Diane 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 smtClean="0">
                          <a:sym typeface="IBM Plex Sans" panose="020B0503050203000203"/>
                        </a:rPr>
                        <a:t>Data cleaning, dashboard development, visualization, reporting.</a:t>
                      </a:r>
                      <a:endParaRPr lang="en-GB" sz="2400" dirty="0"/>
                    </a:p>
                  </a:txBody>
                  <a:tcPr/>
                </a:tc>
              </a:tr>
              <a:tr h="3723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GB" sz="2400" u="none" strike="noStrike" cap="none" dirty="0" smtClean="0">
                          <a:sym typeface="IBM Plex Sans" panose="020B0503050203000203"/>
                        </a:rPr>
                        <a:t>IT officer:</a:t>
                      </a:r>
                      <a:endParaRPr lang="en-US" sz="2400" dirty="0" smtClean="0">
                        <a:solidFill>
                          <a:srgbClr val="434343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 smtClean="0"/>
                        <a:t>dashboard deployment </a:t>
                      </a:r>
                      <a:endParaRPr lang="en-GB" sz="2400" dirty="0"/>
                    </a:p>
                  </a:txBody>
                  <a:tcPr/>
                </a:tc>
              </a:tr>
              <a:tr h="3723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2400" u="none" strike="noStrike" cap="none" dirty="0" smtClean="0">
                          <a:sym typeface="IBM Plex Sans" panose="020B0503050203000203"/>
                        </a:rPr>
                        <a:t>GMO Leadership</a:t>
                      </a:r>
                      <a:endParaRPr lang="en-US" sz="2400" dirty="0" smtClean="0">
                        <a:solidFill>
                          <a:srgbClr val="434343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2400" u="none" strike="noStrike" cap="none" dirty="0" smtClean="0">
                          <a:sym typeface="IBM Plex Sans" panose="020B0503050203000203"/>
                        </a:rPr>
                        <a:t>Validation</a:t>
                      </a:r>
                      <a:endParaRPr lang="en-GB" sz="2400" b="0" i="0" u="none" strike="noStrike" cap="none" dirty="0" smtClean="0">
                        <a:solidFill>
                          <a:srgbClr val="434343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34037" y="-47625"/>
            <a:ext cx="10819000" cy="7484517"/>
          </a:xfrm>
          <a:custGeom>
            <a:avLst/>
            <a:gdLst/>
            <a:ahLst/>
            <a:cxnLst/>
            <a:rect l="l" t="t" r="r" b="b"/>
            <a:pathLst>
              <a:path w="10819000" h="6141253" extrusionOk="0">
                <a:moveTo>
                  <a:pt x="0" y="0"/>
                </a:moveTo>
                <a:lnTo>
                  <a:pt x="10819000" y="0"/>
                </a:lnTo>
                <a:lnTo>
                  <a:pt x="10819000" y="6141254"/>
                </a:lnTo>
                <a:lnTo>
                  <a:pt x="0" y="6141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4" name="Google Shape;94;p2"/>
          <p:cNvSpPr txBox="1"/>
          <p:nvPr/>
        </p:nvSpPr>
        <p:spPr>
          <a:xfrm>
            <a:off x="154431" y="1152525"/>
            <a:ext cx="10863962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2800" b="1" dirty="0" smtClean="0"/>
              <a:t>1. Data </a:t>
            </a:r>
            <a:r>
              <a:rPr lang="en-GB" sz="2800" b="1" dirty="0"/>
              <a:t>Cleaning &amp; </a:t>
            </a:r>
            <a:r>
              <a:rPr lang="en-GB" sz="2800" b="1" dirty="0" smtClean="0"/>
              <a:t>Processing:</a:t>
            </a: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 smtClean="0"/>
              <a:t>Standardized dates, phone numbers, location names.</a:t>
            </a:r>
            <a:endParaRPr lang="en-GB" sz="2800" dirty="0" smtClean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800" dirty="0" smtClean="0"/>
              <a:t>Removed corrupted rows and harmonized variable formats.</a:t>
            </a:r>
            <a:endParaRPr lang="en-GB" sz="2800" dirty="0" smtClean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sz="2800" dirty="0" smtClean="0"/>
              <a:t>Extracted new variables (year, month, week).</a:t>
            </a:r>
            <a:endParaRPr lang="en-GB" sz="2800" dirty="0" smtClean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sz="2800" dirty="0" err="1" smtClean="0"/>
              <a:t>etc</a:t>
            </a:r>
            <a:endParaRPr lang="en-GB" sz="2800" dirty="0" smtClean="0"/>
          </a:p>
          <a:p>
            <a:r>
              <a:rPr lang="en-GB" sz="2800" b="1" dirty="0" smtClean="0"/>
              <a:t>2. Descriptive </a:t>
            </a:r>
            <a:r>
              <a:rPr lang="en-GB" sz="2800" b="1" dirty="0"/>
              <a:t>Analytics:</a:t>
            </a:r>
            <a:endParaRPr lang="en-GB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800" dirty="0"/>
              <a:t>Distribution analysis (age, sex, violence types, channels).</a:t>
            </a:r>
            <a:endParaRPr lang="en-GB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800" dirty="0"/>
              <a:t>District and temporal trends.</a:t>
            </a:r>
            <a:endParaRPr lang="en-GB" sz="2800" dirty="0"/>
          </a:p>
          <a:p>
            <a:r>
              <a:rPr lang="en-GB" sz="2800" dirty="0" smtClean="0"/>
              <a:t>3. </a:t>
            </a:r>
            <a:r>
              <a:rPr lang="en-GB" sz="2800" b="1" dirty="0" smtClean="0"/>
              <a:t>Visualizations </a:t>
            </a:r>
            <a:r>
              <a:rPr lang="en-GB" sz="2800" b="1" dirty="0"/>
              <a:t>using </a:t>
            </a:r>
            <a:r>
              <a:rPr lang="en-GB" sz="2800" b="1" dirty="0" err="1" smtClean="0"/>
              <a:t>Streamlit</a:t>
            </a:r>
            <a:endParaRPr lang="en-GB" sz="2800" b="1" dirty="0"/>
          </a:p>
          <a:p>
            <a:pPr lvl="0"/>
            <a:endParaRPr lang="en-GB" sz="2800" dirty="0"/>
          </a:p>
          <a:p>
            <a:pPr lvl="0"/>
            <a:r>
              <a:rPr lang="en-GB" sz="2800" b="1" dirty="0" smtClean="0"/>
              <a:t>Data source: </a:t>
            </a:r>
            <a:r>
              <a:rPr lang="en-GB" sz="2800" dirty="0" smtClean="0"/>
              <a:t>GMO received Case reports</a:t>
            </a:r>
            <a:endParaRPr lang="en-GB" sz="2800" dirty="0" smtClean="0"/>
          </a:p>
          <a:p>
            <a:pPr lvl="0"/>
            <a:r>
              <a:rPr lang="en-GB" sz="2800" b="1" dirty="0" smtClean="0"/>
              <a:t>Period: </a:t>
            </a:r>
            <a:r>
              <a:rPr lang="en-GB" sz="2800" dirty="0" smtClean="0"/>
              <a:t>2022-2025</a:t>
            </a:r>
            <a:endParaRPr lang="en-GB" sz="2800" dirty="0"/>
          </a:p>
        </p:txBody>
      </p:sp>
      <p:sp>
        <p:nvSpPr>
          <p:cNvPr id="4" name="Google Shape;100;p3"/>
          <p:cNvSpPr txBox="1"/>
          <p:nvPr/>
        </p:nvSpPr>
        <p:spPr>
          <a:xfrm>
            <a:off x="740931" y="304409"/>
            <a:ext cx="5555100" cy="680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5" b="0" i="0" u="none" strike="noStrike" cap="none" dirty="0" smtClean="0">
                <a:solidFill>
                  <a:srgbClr val="2A399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Methodology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-123825"/>
            <a:ext cx="10819000" cy="7484517"/>
          </a:xfrm>
          <a:custGeom>
            <a:avLst/>
            <a:gdLst/>
            <a:ahLst/>
            <a:cxnLst/>
            <a:rect l="l" t="t" r="r" b="b"/>
            <a:pathLst>
              <a:path w="10819000" h="6141253" extrusionOk="0">
                <a:moveTo>
                  <a:pt x="0" y="0"/>
                </a:moveTo>
                <a:lnTo>
                  <a:pt x="10819000" y="0"/>
                </a:lnTo>
                <a:lnTo>
                  <a:pt x="10819000" y="6141254"/>
                </a:lnTo>
                <a:lnTo>
                  <a:pt x="0" y="6141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4" name="Google Shape;94;p2"/>
          <p:cNvSpPr txBox="1"/>
          <p:nvPr/>
        </p:nvSpPr>
        <p:spPr>
          <a:xfrm>
            <a:off x="1011681" y="1266825"/>
            <a:ext cx="10863962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 smtClean="0"/>
              <a:t>Time </a:t>
            </a:r>
            <a:r>
              <a:rPr lang="en-GB" sz="3200" dirty="0"/>
              <a:t>series chart for GBV trends.</a:t>
            </a:r>
            <a:endParaRPr lang="en-GB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 smtClean="0"/>
              <a:t>Top </a:t>
            </a:r>
            <a:r>
              <a:rPr lang="en-GB" sz="3200" dirty="0"/>
              <a:t>types of violence bar chart.</a:t>
            </a:r>
            <a:endParaRPr lang="en-GB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 smtClean="0"/>
              <a:t>Age </a:t>
            </a:r>
            <a:r>
              <a:rPr lang="en-GB" sz="3200" dirty="0"/>
              <a:t>and sex distributions</a:t>
            </a:r>
            <a:r>
              <a:rPr lang="en-GB" sz="3200" dirty="0" smtClean="0"/>
              <a:t>.</a:t>
            </a:r>
            <a:endParaRPr lang="en-GB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 smtClean="0"/>
              <a:t>Cases by channels used chart</a:t>
            </a:r>
            <a:endParaRPr lang="en-GB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 smtClean="0"/>
              <a:t>Case </a:t>
            </a:r>
            <a:r>
              <a:rPr lang="en-GB" sz="3200" dirty="0"/>
              <a:t>progress tracking (Reported → Referred → Returned</a:t>
            </a:r>
            <a:r>
              <a:rPr lang="en-GB" sz="3200" dirty="0" smtClean="0"/>
              <a:t>).</a:t>
            </a:r>
            <a:endParaRPr lang="en-GB" sz="3200" dirty="0" smtClean="0"/>
          </a:p>
        </p:txBody>
      </p:sp>
      <p:sp>
        <p:nvSpPr>
          <p:cNvPr id="4" name="Google Shape;100;p3"/>
          <p:cNvSpPr txBox="1"/>
          <p:nvPr/>
        </p:nvSpPr>
        <p:spPr>
          <a:xfrm>
            <a:off x="740931" y="304409"/>
            <a:ext cx="55551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GB" sz="3200" b="1" dirty="0" smtClean="0"/>
              <a:t>Sample Visualisations</a:t>
            </a:r>
            <a:endParaRPr lang="en-GB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/>
          <p:nvPr/>
        </p:nvSpPr>
        <p:spPr>
          <a:xfrm>
            <a:off x="-114300" y="-95250"/>
            <a:ext cx="10749144" cy="7762875"/>
          </a:xfrm>
          <a:custGeom>
            <a:avLst/>
            <a:gdLst/>
            <a:ahLst/>
            <a:cxnLst/>
            <a:rect l="l" t="t" r="r" b="b"/>
            <a:pathLst>
              <a:path w="10819000" h="6141253" extrusionOk="0">
                <a:moveTo>
                  <a:pt x="0" y="0"/>
                </a:moveTo>
                <a:lnTo>
                  <a:pt x="10819000" y="0"/>
                </a:lnTo>
                <a:lnTo>
                  <a:pt x="10819000" y="6141254"/>
                </a:lnTo>
                <a:lnTo>
                  <a:pt x="0" y="6141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artisticGlowEdges trans="15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</p:sp>
      <p:sp>
        <p:nvSpPr>
          <p:cNvPr id="107" name="Google Shape;107;p4"/>
          <p:cNvSpPr txBox="1"/>
          <p:nvPr/>
        </p:nvSpPr>
        <p:spPr>
          <a:xfrm>
            <a:off x="863144" y="112397"/>
            <a:ext cx="8135175" cy="679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5250" lvl="0">
              <a:lnSpc>
                <a:spcPct val="138000"/>
              </a:lnSpc>
              <a:buClr>
                <a:srgbClr val="434343"/>
              </a:buClr>
              <a:buSzPts val="2104"/>
            </a:pPr>
            <a:r>
              <a:rPr lang="en-US" sz="3200" b="1" dirty="0">
                <a:solidFill>
                  <a:schemeClr val="bg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Actual product: </a:t>
            </a:r>
            <a:r>
              <a:rPr lang="en-US" sz="3200" b="1" dirty="0" smtClean="0">
                <a:solidFill>
                  <a:schemeClr val="bg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Demo screenshots </a:t>
            </a:r>
            <a:endParaRPr lang="en-US" sz="3200" b="1" dirty="0">
              <a:solidFill>
                <a:schemeClr val="bg1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619" y="1066800"/>
            <a:ext cx="4881113" cy="2667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960" y="4008658"/>
            <a:ext cx="6663884" cy="333194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58" b="-8868"/>
          <a:stretch>
            <a:fillRect/>
          </a:stretch>
        </p:blipFill>
        <p:spPr>
          <a:xfrm>
            <a:off x="4916604" y="791942"/>
            <a:ext cx="5827595" cy="331333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7150"/>
            <a:ext cx="3824527" cy="3190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/>
          <p:nvPr/>
        </p:nvSpPr>
        <p:spPr>
          <a:xfrm>
            <a:off x="-76200" y="0"/>
            <a:ext cx="10839450" cy="7648576"/>
          </a:xfrm>
          <a:custGeom>
            <a:avLst/>
            <a:gdLst/>
            <a:ahLst/>
            <a:cxnLst/>
            <a:rect l="l" t="t" r="r" b="b"/>
            <a:pathLst>
              <a:path w="10819000" h="6141253" extrusionOk="0">
                <a:moveTo>
                  <a:pt x="0" y="0"/>
                </a:moveTo>
                <a:lnTo>
                  <a:pt x="10819000" y="0"/>
                </a:lnTo>
                <a:lnTo>
                  <a:pt x="10819000" y="6141254"/>
                </a:lnTo>
                <a:lnTo>
                  <a:pt x="0" y="6141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7" name="Google Shape;107;p4"/>
          <p:cNvSpPr txBox="1"/>
          <p:nvPr/>
        </p:nvSpPr>
        <p:spPr>
          <a:xfrm>
            <a:off x="1064781" y="115496"/>
            <a:ext cx="5102704" cy="680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5" b="1" dirty="0" smtClean="0">
                <a:solidFill>
                  <a:srgbClr val="2A399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Key </a:t>
            </a:r>
            <a:r>
              <a:rPr lang="en-US" sz="3155" b="1" i="0" u="none" strike="noStrike" cap="none" dirty="0" smtClean="0">
                <a:solidFill>
                  <a:srgbClr val="2A399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achievements</a:t>
            </a:r>
            <a:endParaRPr b="1" dirty="0"/>
          </a:p>
        </p:txBody>
      </p:sp>
      <p:sp>
        <p:nvSpPr>
          <p:cNvPr id="108" name="Google Shape;108;p4"/>
          <p:cNvSpPr txBox="1"/>
          <p:nvPr/>
        </p:nvSpPr>
        <p:spPr>
          <a:xfrm>
            <a:off x="668097" y="1276425"/>
            <a:ext cx="9355800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/>
              <a:t>Functional </a:t>
            </a:r>
            <a:r>
              <a:rPr lang="en-GB" sz="2800" b="1" dirty="0" smtClean="0"/>
              <a:t>interactive GBV dashboard</a:t>
            </a:r>
            <a:r>
              <a:rPr lang="en-GB" sz="2800" dirty="0" smtClean="0"/>
              <a:t> developed in Python/</a:t>
            </a:r>
            <a:r>
              <a:rPr lang="en-GB" sz="2800" dirty="0" err="1" smtClean="0"/>
              <a:t>Streamlit</a:t>
            </a:r>
            <a:r>
              <a:rPr lang="en-GB" sz="2800" dirty="0" smtClean="0"/>
              <a:t>.</a:t>
            </a:r>
            <a:endParaRPr lang="en-GB" sz="2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/>
              <a:t>Integrated all major variables: date, district, age, sex, violence type, channel, case summary.</a:t>
            </a:r>
            <a:endParaRPr lang="en-GB" sz="2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/>
              <a:t>Improved data quality through cleaning and harmonization.</a:t>
            </a:r>
            <a:endParaRPr lang="en-GB" sz="2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/>
              <a:t>KPI row redesigned to display:</a:t>
            </a:r>
            <a:endParaRPr lang="en-GB" sz="2800" dirty="0" smtClean="0"/>
          </a:p>
          <a:p>
            <a:pPr lvl="1"/>
            <a:r>
              <a:rPr lang="en-GB" sz="2800" dirty="0"/>
              <a:t> </a:t>
            </a:r>
            <a:r>
              <a:rPr lang="en-GB" sz="2800" dirty="0" smtClean="0"/>
              <a:t>          -Total cases</a:t>
            </a:r>
            <a:endParaRPr lang="en-GB" sz="2800" dirty="0" smtClean="0"/>
          </a:p>
          <a:p>
            <a:pPr lvl="1"/>
            <a:r>
              <a:rPr lang="en-GB" sz="2800" dirty="0"/>
              <a:t> </a:t>
            </a:r>
            <a:r>
              <a:rPr lang="en-GB" sz="2800" dirty="0" smtClean="0"/>
              <a:t>          -Top district with most cases</a:t>
            </a:r>
            <a:endParaRPr lang="en-GB" sz="2800" dirty="0" smtClean="0"/>
          </a:p>
          <a:p>
            <a:pPr lvl="1"/>
            <a:r>
              <a:rPr lang="en-GB" sz="2800" dirty="0"/>
              <a:t> </a:t>
            </a:r>
            <a:r>
              <a:rPr lang="en-GB" sz="2800" dirty="0" smtClean="0"/>
              <a:t>          -Top type of violence</a:t>
            </a:r>
            <a:endParaRPr lang="en-GB" sz="2800" dirty="0" smtClean="0"/>
          </a:p>
          <a:p>
            <a:pPr lvl="1"/>
            <a:r>
              <a:rPr lang="en-GB" sz="2800" dirty="0"/>
              <a:t> </a:t>
            </a:r>
            <a:r>
              <a:rPr lang="en-GB" sz="2800" dirty="0" smtClean="0"/>
              <a:t>          -Year range (2022–2025)</a:t>
            </a:r>
            <a:endParaRPr lang="en-GB" sz="2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/>
              <a:t>Added GMO branding and logo</a:t>
            </a:r>
            <a:endParaRPr lang="en-GB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/>
          <p:nvPr/>
        </p:nvSpPr>
        <p:spPr>
          <a:xfrm>
            <a:off x="-76200" y="0"/>
            <a:ext cx="10839450" cy="7648576"/>
          </a:xfrm>
          <a:custGeom>
            <a:avLst/>
            <a:gdLst/>
            <a:ahLst/>
            <a:cxnLst/>
            <a:rect l="l" t="t" r="r" b="b"/>
            <a:pathLst>
              <a:path w="10819000" h="6141253" extrusionOk="0">
                <a:moveTo>
                  <a:pt x="0" y="0"/>
                </a:moveTo>
                <a:lnTo>
                  <a:pt x="10819000" y="0"/>
                </a:lnTo>
                <a:lnTo>
                  <a:pt x="10819000" y="6141254"/>
                </a:lnTo>
                <a:lnTo>
                  <a:pt x="0" y="6141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07" name="Google Shape;107;p4"/>
          <p:cNvSpPr txBox="1"/>
          <p:nvPr/>
        </p:nvSpPr>
        <p:spPr>
          <a:xfrm>
            <a:off x="1064781" y="115496"/>
            <a:ext cx="5102704" cy="680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5" b="1" dirty="0" smtClean="0">
                <a:solidFill>
                  <a:srgbClr val="2A399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Key </a:t>
            </a:r>
            <a:r>
              <a:rPr lang="en-US" sz="3155" b="1" i="0" u="none" strike="noStrike" cap="none" dirty="0" smtClean="0">
                <a:solidFill>
                  <a:srgbClr val="2A399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achievements</a:t>
            </a:r>
            <a:endParaRPr b="1" dirty="0"/>
          </a:p>
        </p:txBody>
      </p:sp>
      <p:sp>
        <p:nvSpPr>
          <p:cNvPr id="108" name="Google Shape;108;p4"/>
          <p:cNvSpPr txBox="1"/>
          <p:nvPr/>
        </p:nvSpPr>
        <p:spPr>
          <a:xfrm>
            <a:off x="668097" y="1276425"/>
            <a:ext cx="9355800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/>
              <a:t>Functional </a:t>
            </a:r>
            <a:r>
              <a:rPr lang="en-GB" sz="2800" b="1" dirty="0" smtClean="0"/>
              <a:t>interactive GBV dashboard</a:t>
            </a:r>
            <a:r>
              <a:rPr lang="en-GB" sz="2800" dirty="0" smtClean="0"/>
              <a:t> developed in Python/</a:t>
            </a:r>
            <a:r>
              <a:rPr lang="en-GB" sz="2800" dirty="0" err="1" smtClean="0"/>
              <a:t>Streamlit</a:t>
            </a:r>
            <a:r>
              <a:rPr lang="en-GB" sz="2800" dirty="0" smtClean="0"/>
              <a:t>.</a:t>
            </a:r>
            <a:endParaRPr lang="en-GB" sz="2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/>
              <a:t>Integrated all major variables: date, district, age, sex, violence type, channel, case summary.</a:t>
            </a:r>
            <a:endParaRPr lang="en-GB" sz="2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/>
              <a:t>Improved data quality through cleaning and harmonization.</a:t>
            </a:r>
            <a:endParaRPr lang="en-GB" sz="2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/>
              <a:t>KPI row redesigned to display:</a:t>
            </a:r>
            <a:endParaRPr lang="en-GB" sz="2800" dirty="0" smtClean="0"/>
          </a:p>
          <a:p>
            <a:pPr lvl="1"/>
            <a:r>
              <a:rPr lang="en-GB" sz="2800" dirty="0"/>
              <a:t> </a:t>
            </a:r>
            <a:r>
              <a:rPr lang="en-GB" sz="2800" dirty="0" smtClean="0"/>
              <a:t>          -Total cases</a:t>
            </a:r>
            <a:endParaRPr lang="en-GB" sz="2800" dirty="0" smtClean="0"/>
          </a:p>
          <a:p>
            <a:pPr lvl="1"/>
            <a:r>
              <a:rPr lang="en-GB" sz="2800" dirty="0"/>
              <a:t> </a:t>
            </a:r>
            <a:r>
              <a:rPr lang="en-GB" sz="2800" dirty="0" smtClean="0"/>
              <a:t>          -Top district with most cases</a:t>
            </a:r>
            <a:endParaRPr lang="en-GB" sz="2800" dirty="0" smtClean="0"/>
          </a:p>
          <a:p>
            <a:pPr lvl="1"/>
            <a:r>
              <a:rPr lang="en-GB" sz="2800" dirty="0"/>
              <a:t> </a:t>
            </a:r>
            <a:r>
              <a:rPr lang="en-GB" sz="2800" dirty="0" smtClean="0"/>
              <a:t>          -Top type of violence</a:t>
            </a:r>
            <a:endParaRPr lang="en-GB" sz="2800" dirty="0" smtClean="0"/>
          </a:p>
          <a:p>
            <a:pPr lvl="1"/>
            <a:r>
              <a:rPr lang="en-GB" sz="2800" dirty="0"/>
              <a:t> </a:t>
            </a:r>
            <a:r>
              <a:rPr lang="en-GB" sz="2800" dirty="0" smtClean="0"/>
              <a:t>          -Year range (2022–2025)</a:t>
            </a:r>
            <a:endParaRPr lang="en-GB" sz="2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/>
              <a:t>Added GMO branding and logo</a:t>
            </a:r>
            <a:endParaRPr lang="en-GB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/>
          <p:nvPr/>
        </p:nvSpPr>
        <p:spPr>
          <a:xfrm>
            <a:off x="157316" y="0"/>
            <a:ext cx="10598180" cy="7556500"/>
          </a:xfrm>
          <a:custGeom>
            <a:avLst/>
            <a:gdLst/>
            <a:ahLst/>
            <a:cxnLst/>
            <a:rect l="l" t="t" r="r" b="b"/>
            <a:pathLst>
              <a:path w="10819000" h="6141253" extrusionOk="0">
                <a:moveTo>
                  <a:pt x="0" y="0"/>
                </a:moveTo>
                <a:lnTo>
                  <a:pt x="10819000" y="0"/>
                </a:lnTo>
                <a:lnTo>
                  <a:pt x="10819000" y="6141254"/>
                </a:lnTo>
                <a:lnTo>
                  <a:pt x="0" y="6141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  <a:ln>
            <a:noFill/>
          </a:ln>
          <a:effectLst>
            <a:glow rad="127000">
              <a:schemeClr val="bg1"/>
            </a:glow>
          </a:effectLst>
        </p:spPr>
      </p:sp>
      <p:sp>
        <p:nvSpPr>
          <p:cNvPr id="107" name="Google Shape;107;p4"/>
          <p:cNvSpPr txBox="1"/>
          <p:nvPr/>
        </p:nvSpPr>
        <p:spPr>
          <a:xfrm>
            <a:off x="999299" y="436878"/>
            <a:ext cx="8135175" cy="1401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5250" lvl="0">
              <a:lnSpc>
                <a:spcPct val="138000"/>
              </a:lnSpc>
              <a:buClr>
                <a:srgbClr val="434343"/>
              </a:buClr>
              <a:buSzPts val="2104"/>
            </a:pPr>
            <a:r>
              <a:rPr lang="en-US" sz="6600" b="1" dirty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Current status</a:t>
            </a:r>
            <a:endParaRPr lang="en-US" sz="6600" b="1" dirty="0">
              <a:solidFill>
                <a:srgbClr val="434343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999300" y="2276550"/>
            <a:ext cx="9355800" cy="414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5400" dirty="0"/>
              <a:t>completed </a:t>
            </a:r>
            <a:r>
              <a:rPr lang="en-GB" sz="5400" dirty="0"/>
              <a:t>with:</a:t>
            </a:r>
            <a:endParaRPr lang="en-GB" sz="5400" dirty="0"/>
          </a:p>
          <a:p>
            <a:r>
              <a:rPr lang="en-GB" sz="5400" dirty="0"/>
              <a:t>-Data cleaning</a:t>
            </a:r>
            <a:endParaRPr lang="en-GB" sz="5400" dirty="0"/>
          </a:p>
          <a:p>
            <a:r>
              <a:rPr lang="en-GB" sz="5400" dirty="0"/>
              <a:t>-Developed </a:t>
            </a:r>
            <a:r>
              <a:rPr lang="en-GB" sz="5400" dirty="0" smtClean="0"/>
              <a:t>Dashboard</a:t>
            </a:r>
            <a:endParaRPr lang="en-GB" sz="5400" dirty="0"/>
          </a:p>
          <a:p>
            <a:r>
              <a:rPr lang="en-GB" sz="5400" dirty="0" smtClean="0"/>
              <a:t>-Visual </a:t>
            </a:r>
            <a:r>
              <a:rPr lang="en-GB" sz="5400" dirty="0"/>
              <a:t>analytics</a:t>
            </a:r>
            <a:endParaRPr lang="en-GB" sz="5400" dirty="0"/>
          </a:p>
          <a:p>
            <a:endParaRPr lang="en-GB" sz="2400" dirty="0"/>
          </a:p>
          <a:p>
            <a:pPr marL="95250" marR="0" lvl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4"/>
            </a:pPr>
            <a:endParaRPr lang="en-US" sz="2105" b="1" i="0" u="none" strike="noStrike" cap="none" dirty="0">
              <a:solidFill>
                <a:srgbClr val="434343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0" y="180976"/>
            <a:ext cx="10755497" cy="7375524"/>
          </a:xfrm>
          <a:custGeom>
            <a:avLst/>
            <a:gdLst/>
            <a:ahLst/>
            <a:cxnLst/>
            <a:rect l="l" t="t" r="r" b="b"/>
            <a:pathLst>
              <a:path w="10819000" h="6141253" extrusionOk="0">
                <a:moveTo>
                  <a:pt x="0" y="0"/>
                </a:moveTo>
                <a:lnTo>
                  <a:pt x="10819000" y="0"/>
                </a:lnTo>
                <a:lnTo>
                  <a:pt x="10819000" y="6141254"/>
                </a:lnTo>
                <a:lnTo>
                  <a:pt x="0" y="6141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114" name="Google Shape;114;p5"/>
          <p:cNvSpPr txBox="1"/>
          <p:nvPr/>
        </p:nvSpPr>
        <p:spPr>
          <a:xfrm>
            <a:off x="921906" y="568332"/>
            <a:ext cx="7345794" cy="680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5" b="1" i="0" u="none" strike="noStrike" cap="none" dirty="0">
                <a:solidFill>
                  <a:srgbClr val="2A399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Challenges and support needs</a:t>
            </a:r>
            <a:endParaRPr b="1" dirty="0"/>
          </a:p>
        </p:txBody>
      </p:sp>
      <p:sp>
        <p:nvSpPr>
          <p:cNvPr id="115" name="Google Shape;115;p5"/>
          <p:cNvSpPr txBox="1"/>
          <p:nvPr/>
        </p:nvSpPr>
        <p:spPr>
          <a:xfrm>
            <a:off x="349251" y="2095576"/>
            <a:ext cx="10406246" cy="450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5250" marR="0" lvl="0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4"/>
            </a:pPr>
            <a:r>
              <a:rPr lang="en-US" sz="3600" b="1" i="0" u="none" strike="noStrike" cap="none" dirty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Main </a:t>
            </a:r>
            <a:r>
              <a:rPr lang="en-US" sz="3600" b="1" i="0" u="none" strike="noStrike" cap="none" dirty="0" smtClean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challenges</a:t>
            </a:r>
            <a:r>
              <a:rPr lang="en-US" sz="3600" b="0" i="0" u="none" strike="noStrike" cap="none" dirty="0" smtClean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 </a:t>
            </a:r>
            <a:endParaRPr lang="en-US" sz="3600" b="0" i="0" u="none" strike="noStrike" cap="none" dirty="0" smtClean="0">
              <a:solidFill>
                <a:srgbClr val="434343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438150" lvl="0" indent="-342900">
              <a:lnSpc>
                <a:spcPct val="138000"/>
              </a:lnSpc>
              <a:buClr>
                <a:srgbClr val="434343"/>
              </a:buClr>
              <a:buSzPts val="2104"/>
              <a:buFont typeface="Arial" panose="020B0604020202020204" pitchFamily="34" charset="0"/>
              <a:buChar char="•"/>
            </a:pPr>
            <a:r>
              <a:rPr lang="en-GB" sz="2800" dirty="0"/>
              <a:t>O</a:t>
            </a:r>
            <a:r>
              <a:rPr lang="en-GB" sz="2800" dirty="0" smtClean="0"/>
              <a:t>ther institutions Data access</a:t>
            </a:r>
            <a:endParaRPr lang="en-GB" sz="2800" dirty="0" smtClean="0"/>
          </a:p>
          <a:p>
            <a:pPr marL="438150" lvl="0" indent="-342900">
              <a:lnSpc>
                <a:spcPct val="138000"/>
              </a:lnSpc>
              <a:buClr>
                <a:srgbClr val="434343"/>
              </a:buClr>
              <a:buSzPts val="2104"/>
              <a:buFont typeface="Arial" panose="020B0604020202020204" pitchFamily="34" charset="0"/>
              <a:buChar char="•"/>
            </a:pPr>
            <a:r>
              <a:rPr lang="en-GB" sz="2800" dirty="0"/>
              <a:t>R</a:t>
            </a:r>
            <a:r>
              <a:rPr lang="en-GB" sz="2800" dirty="0" smtClean="0"/>
              <a:t>equired </a:t>
            </a:r>
            <a:r>
              <a:rPr lang="en-GB" sz="2800" dirty="0"/>
              <a:t>heavy </a:t>
            </a:r>
            <a:r>
              <a:rPr lang="en-GB" sz="2800" dirty="0" smtClean="0"/>
              <a:t>data cleaning</a:t>
            </a:r>
            <a:endParaRPr lang="en-GB" sz="2800" dirty="0" smtClean="0"/>
          </a:p>
          <a:p>
            <a:pPr marL="95250" lvl="0">
              <a:lnSpc>
                <a:spcPct val="138000"/>
              </a:lnSpc>
              <a:buClr>
                <a:srgbClr val="434343"/>
              </a:buClr>
              <a:buSzPts val="2104"/>
            </a:pPr>
            <a:r>
              <a:rPr lang="en-US" sz="3600" b="1" i="0" u="none" strike="noStrike" cap="none" dirty="0" smtClean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Support required</a:t>
            </a:r>
            <a:endParaRPr lang="en-US" sz="3600" b="0" i="0" u="none" strike="noStrike" cap="none" dirty="0" smtClean="0">
              <a:solidFill>
                <a:srgbClr val="434343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438150" lvl="0" indent="-342900">
              <a:lnSpc>
                <a:spcPct val="138000"/>
              </a:lnSpc>
              <a:buClr>
                <a:srgbClr val="434343"/>
              </a:buClr>
              <a:buSzPts val="2104"/>
              <a:buFont typeface="Arial" panose="020B0604020202020204" pitchFamily="34" charset="0"/>
              <a:buChar char="•"/>
            </a:pPr>
            <a:r>
              <a:rPr lang="en-GB" sz="2800" dirty="0"/>
              <a:t>Technical support for </a:t>
            </a:r>
            <a:r>
              <a:rPr lang="en-GB" sz="2800" dirty="0" smtClean="0"/>
              <a:t>the dashboard deployment </a:t>
            </a:r>
            <a:r>
              <a:rPr lang="en-GB" sz="2800" dirty="0"/>
              <a:t>securely (server/website</a:t>
            </a:r>
            <a:r>
              <a:rPr lang="en-GB" sz="2800" dirty="0" smtClean="0"/>
              <a:t>)</a:t>
            </a:r>
            <a:endParaRPr lang="en-GB" sz="2800" dirty="0" smtClean="0"/>
          </a:p>
          <a:p>
            <a:pPr marL="438150" lvl="0" indent="-342900">
              <a:lnSpc>
                <a:spcPct val="138000"/>
              </a:lnSpc>
              <a:buClr>
                <a:srgbClr val="434343"/>
              </a:buClr>
              <a:buSzPts val="2104"/>
              <a:buFont typeface="Arial" panose="020B0604020202020204" pitchFamily="34" charset="0"/>
              <a:buChar char="•"/>
            </a:pPr>
            <a:r>
              <a:rPr lang="en-GB" sz="2800" dirty="0"/>
              <a:t>Institutional validation and approval for dashboard adoption</a:t>
            </a:r>
            <a:endParaRPr lang="en-US" sz="2800" b="0" i="0" u="none" strike="noStrike" cap="none" dirty="0" smtClean="0">
              <a:solidFill>
                <a:srgbClr val="434343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0" y="66676"/>
            <a:ext cx="10819000" cy="7489824"/>
          </a:xfrm>
          <a:custGeom>
            <a:avLst/>
            <a:gdLst/>
            <a:ahLst/>
            <a:cxnLst/>
            <a:rect l="l" t="t" r="r" b="b"/>
            <a:pathLst>
              <a:path w="10819000" h="6141253" extrusionOk="0">
                <a:moveTo>
                  <a:pt x="0" y="0"/>
                </a:moveTo>
                <a:lnTo>
                  <a:pt x="10819000" y="0"/>
                </a:lnTo>
                <a:lnTo>
                  <a:pt x="10819000" y="6141254"/>
                </a:lnTo>
                <a:lnTo>
                  <a:pt x="0" y="6141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121" name="Google Shape;121;p6"/>
          <p:cNvSpPr txBox="1"/>
          <p:nvPr/>
        </p:nvSpPr>
        <p:spPr>
          <a:xfrm>
            <a:off x="845706" y="236127"/>
            <a:ext cx="6745719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2A399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Next steps and work plan</a:t>
            </a:r>
            <a:endParaRPr sz="3600" b="1" dirty="0"/>
          </a:p>
        </p:txBody>
      </p:sp>
      <p:sp>
        <p:nvSpPr>
          <p:cNvPr id="122" name="Google Shape;122;p6"/>
          <p:cNvSpPr txBox="1"/>
          <p:nvPr/>
        </p:nvSpPr>
        <p:spPr>
          <a:xfrm>
            <a:off x="758997" y="1181175"/>
            <a:ext cx="8946978" cy="327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5250" marR="0" lvl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4"/>
            </a:pPr>
            <a:r>
              <a:rPr lang="en-US" sz="3600" b="1" i="0" u="none" strike="noStrike" cap="none" dirty="0">
                <a:solidFill>
                  <a:srgbClr val="434343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Planned activities: </a:t>
            </a:r>
            <a:endParaRPr lang="en-US" sz="3600" b="1" i="0" u="none" strike="noStrike" cap="none" dirty="0" smtClean="0">
              <a:solidFill>
                <a:srgbClr val="434343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Finalize dashboard polishing</a:t>
            </a:r>
            <a:endParaRPr lang="en-GB" sz="24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Validation with GMO</a:t>
            </a:r>
            <a:endParaRPr lang="en-GB" sz="24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Online deployment</a:t>
            </a:r>
            <a:endParaRPr lang="en-GB" sz="24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User training and </a:t>
            </a:r>
            <a:r>
              <a:rPr lang="en-GB" sz="2400" dirty="0" smtClean="0"/>
              <a:t>documentation</a:t>
            </a:r>
            <a:endParaRPr lang="en-GB" sz="2400" b="1" dirty="0">
              <a:solidFill>
                <a:srgbClr val="434343"/>
              </a:solidFill>
              <a:latin typeface="IBM Plex Sans" panose="020B0503050203000203"/>
              <a:sym typeface="IBM Plex Sans" panose="020B0503050203000203"/>
            </a:endParaRPr>
          </a:p>
          <a:p>
            <a:pPr lvl="1"/>
            <a:r>
              <a:rPr lang="en-GB" sz="2400" b="1" dirty="0" smtClean="0">
                <a:solidFill>
                  <a:srgbClr val="434343"/>
                </a:solidFill>
                <a:latin typeface="IBM Plex Sans" panose="020B0503050203000203"/>
                <a:sym typeface="IBM Plex Sans" panose="020B0503050203000203"/>
              </a:rPr>
              <a:t>As data are too sensitive the dashboard will be used internally and with key specific responsible staff</a:t>
            </a:r>
            <a:endParaRPr lang="en-US" sz="2105" b="1" dirty="0">
              <a:solidFill>
                <a:srgbClr val="434343"/>
              </a:solidFill>
              <a:latin typeface="IBM Plex Sans" panose="020B0503050203000203"/>
              <a:sym typeface="IBM Plex Sans" panose="020B0503050203000203"/>
            </a:endParaRPr>
          </a:p>
          <a:p>
            <a:pPr marL="457200" marR="0" lvl="0" indent="-36195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4"/>
              <a:buFont typeface="IBM Plex Sans" panose="020B0503050203000203"/>
              <a:buAutoNum type="alphaLcParenBoth"/>
            </a:pP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58997" y="4319566"/>
          <a:ext cx="8537404" cy="250785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68702"/>
                <a:gridCol w="4268702"/>
              </a:tblGrid>
              <a:tr h="501571">
                <a:tc>
                  <a:txBody>
                    <a:bodyPr/>
                    <a:lstStyle/>
                    <a:p>
                      <a:r>
                        <a:rPr lang="en-GB" sz="2400" dirty="0"/>
                        <a:t>Milestone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Expected Completion</a:t>
                      </a:r>
                      <a:endParaRPr lang="en-GB" sz="2400"/>
                    </a:p>
                  </a:txBody>
                  <a:tcPr anchor="ctr"/>
                </a:tc>
              </a:tr>
              <a:tr h="501571">
                <a:tc>
                  <a:txBody>
                    <a:bodyPr/>
                    <a:lstStyle/>
                    <a:p>
                      <a:r>
                        <a:rPr lang="en-GB" sz="2400" dirty="0"/>
                        <a:t>Final dashboard polishing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1 </a:t>
                      </a:r>
                      <a:r>
                        <a:rPr lang="en-GB" sz="2400" dirty="0" smtClean="0"/>
                        <a:t>week from 17</a:t>
                      </a:r>
                      <a:r>
                        <a:rPr lang="en-GB" sz="2400" baseline="0" dirty="0" smtClean="0"/>
                        <a:t> Nov</a:t>
                      </a:r>
                      <a:endParaRPr lang="en-GB" sz="2400" dirty="0"/>
                    </a:p>
                  </a:txBody>
                  <a:tcPr anchor="ctr"/>
                </a:tc>
              </a:tr>
              <a:tr h="501571">
                <a:tc>
                  <a:txBody>
                    <a:bodyPr/>
                    <a:lstStyle/>
                    <a:p>
                      <a:r>
                        <a:rPr lang="en-GB" sz="2400" dirty="0"/>
                        <a:t>Final report submission</a:t>
                      </a:r>
                      <a:endParaRPr lang="en-GB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End of </a:t>
                      </a:r>
                      <a:r>
                        <a:rPr lang="en-GB" sz="2400" dirty="0" smtClean="0"/>
                        <a:t>project 12</a:t>
                      </a:r>
                      <a:r>
                        <a:rPr lang="en-GB" sz="2400" baseline="30000" dirty="0" smtClean="0"/>
                        <a:t>th</a:t>
                      </a:r>
                      <a:r>
                        <a:rPr lang="en-GB" sz="2400" dirty="0" smtClean="0"/>
                        <a:t> Dec</a:t>
                      </a:r>
                      <a:endParaRPr lang="en-GB" sz="2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-63503" y="709374"/>
            <a:ext cx="10819000" cy="6141253"/>
          </a:xfrm>
          <a:custGeom>
            <a:avLst/>
            <a:gdLst/>
            <a:ahLst/>
            <a:cxnLst/>
            <a:rect l="l" t="t" r="r" b="b"/>
            <a:pathLst>
              <a:path w="10819000" h="6141253" extrusionOk="0">
                <a:moveTo>
                  <a:pt x="0" y="0"/>
                </a:moveTo>
                <a:lnTo>
                  <a:pt x="10819000" y="0"/>
                </a:lnTo>
                <a:lnTo>
                  <a:pt x="10819000" y="6141254"/>
                </a:lnTo>
                <a:lnTo>
                  <a:pt x="0" y="6141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128" name="Google Shape;128;p7"/>
          <p:cNvSpPr txBox="1"/>
          <p:nvPr/>
        </p:nvSpPr>
        <p:spPr>
          <a:xfrm>
            <a:off x="999306" y="552850"/>
            <a:ext cx="7125519" cy="680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5" b="1" i="0" u="none" strike="noStrike" cap="none" dirty="0">
                <a:solidFill>
                  <a:srgbClr val="2A399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Conclusions and recommendations</a:t>
            </a:r>
            <a:endParaRPr b="1" dirty="0"/>
          </a:p>
        </p:txBody>
      </p:sp>
      <p:graphicFrame>
        <p:nvGraphicFramePr>
          <p:cNvPr id="11" name="Diagram 10"/>
          <p:cNvGraphicFramePr/>
          <p:nvPr/>
        </p:nvGraphicFramePr>
        <p:xfrm>
          <a:off x="485774" y="1389560"/>
          <a:ext cx="9420225" cy="4765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1" y="133350"/>
            <a:ext cx="10755496" cy="7423150"/>
          </a:xfrm>
          <a:custGeom>
            <a:avLst/>
            <a:gdLst/>
            <a:ahLst/>
            <a:cxnLst/>
            <a:rect l="l" t="t" r="r" b="b"/>
            <a:pathLst>
              <a:path w="10819000" h="6141253" extrusionOk="0">
                <a:moveTo>
                  <a:pt x="0" y="0"/>
                </a:moveTo>
                <a:lnTo>
                  <a:pt x="10819000" y="0"/>
                </a:lnTo>
                <a:lnTo>
                  <a:pt x="10819000" y="6141254"/>
                </a:lnTo>
                <a:lnTo>
                  <a:pt x="0" y="6141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5" name="Google Shape;128;p7"/>
          <p:cNvSpPr txBox="1"/>
          <p:nvPr/>
        </p:nvSpPr>
        <p:spPr>
          <a:xfrm>
            <a:off x="1931556" y="2448325"/>
            <a:ext cx="6477657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i="0" u="none" strike="noStrike" cap="none" dirty="0" smtClean="0">
                <a:solidFill>
                  <a:srgbClr val="2A399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Thank</a:t>
            </a:r>
            <a:r>
              <a:rPr lang="en-US" sz="9600" b="0" i="0" u="none" strike="noStrike" cap="none" dirty="0" smtClean="0">
                <a:solidFill>
                  <a:srgbClr val="2A399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 </a:t>
            </a:r>
            <a:r>
              <a:rPr lang="en-US" sz="9600" b="1" i="0" u="none" strike="noStrike" cap="none" dirty="0" smtClean="0">
                <a:solidFill>
                  <a:srgbClr val="2A399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you!</a:t>
            </a:r>
            <a:endParaRPr sz="9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3290</Words>
  <Application>WPS Presentation</Application>
  <PresentationFormat>Custom</PresentationFormat>
  <Paragraphs>127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Arial</vt:lpstr>
      <vt:lpstr>Roboto</vt:lpstr>
      <vt:lpstr>Verdana</vt:lpstr>
      <vt:lpstr>Calibri</vt:lpstr>
      <vt:lpstr>Trebuchet MS</vt:lpstr>
      <vt:lpstr>IBM Plex Sans</vt:lpstr>
      <vt:lpstr>Microsoft YaHei</vt:lpstr>
      <vt:lpstr>Arial Unicode MS</vt:lpstr>
      <vt:lpstr>Geometric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Gender Based Violence Monitoring Dashboard</dc:title>
  <dc:creator>user</dc:creator>
  <cp:lastModifiedBy>MUKAKALISA DIANE</cp:lastModifiedBy>
  <cp:revision>38</cp:revision>
  <dcterms:created xsi:type="dcterms:W3CDTF">2006-08-16T00:00:00Z</dcterms:created>
  <dcterms:modified xsi:type="dcterms:W3CDTF">2026-01-15T10:18:40Z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CEBBDF661E1D4DC6B7C6FA78B90157AA_12</vt:lpwstr>
  </property>
  <property fmtid="{D5CDD505-2E9C-101B-9397-08002B2CF9AE}" pid="3" name="KSOProductBuildVer">
    <vt:lpwstr>2057-12.2.0.23196</vt:lpwstr>
  </property>
</Properties>
</file>