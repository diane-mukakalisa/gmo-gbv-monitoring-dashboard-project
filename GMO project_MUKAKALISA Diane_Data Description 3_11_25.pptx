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64" r:id="rId7"/>
    <p:sldId id="258" r:id="rId8"/>
    <p:sldId id="259" r:id="rId9"/>
    <p:sldId id="262" r:id="rId10"/>
    <p:sldId id="260" r:id="rId11"/>
    <p:sldId id="263" r:id="rId12"/>
  </p:sldIdLst>
  <p:sldSz cx="9144000" cy="5143500" type="screen16x9"/>
  <p:notesSz cx="6858000" cy="9144000"/>
  <p:embeddedFontLst>
    <p:embeddedFont>
      <p:font typeface="Roboto" panose="0200000000000000000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8" d="100"/>
          <a:sy n="98" d="100"/>
        </p:scale>
        <p:origin x="36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17ed6288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17ed6288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17ed6288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17ed6288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17ed62883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17ed62883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17ed6288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17ed6288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93040" y="471170"/>
            <a:ext cx="8950960" cy="12439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670" b="1">
                <a:sym typeface="+mn-ea"/>
              </a:rPr>
              <a:t>Interactive G</a:t>
            </a:r>
            <a:r>
              <a:rPr lang="en-GB" altLang="en-US" sz="2670" b="1">
                <a:sym typeface="+mn-ea"/>
              </a:rPr>
              <a:t>ender </a:t>
            </a:r>
            <a:r>
              <a:rPr lang="en-US" altLang="en-GB" sz="2670" b="1">
                <a:sym typeface="+mn-ea"/>
              </a:rPr>
              <a:t>B</a:t>
            </a:r>
            <a:r>
              <a:rPr lang="en-GB" altLang="en-US" sz="2670" b="1">
                <a:sym typeface="+mn-ea"/>
              </a:rPr>
              <a:t>ased </a:t>
            </a:r>
            <a:r>
              <a:rPr lang="en-US" altLang="en-GB" sz="2670" b="1">
                <a:sym typeface="+mn-ea"/>
              </a:rPr>
              <a:t>V</a:t>
            </a:r>
            <a:r>
              <a:rPr lang="en-GB" altLang="en-US" sz="2670" b="1">
                <a:sym typeface="+mn-ea"/>
              </a:rPr>
              <a:t>iolence</a:t>
            </a:r>
            <a:r>
              <a:rPr lang="en-US" altLang="en-GB" sz="2670" b="1">
                <a:sym typeface="+mn-ea"/>
              </a:rPr>
              <a:t> Monitoring Dashboard</a:t>
            </a:r>
            <a:endParaRPr lang="en-US" altLang="en-GB" sz="2670" b="1">
              <a:sym typeface="+mn-ea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334770" y="2267585"/>
            <a:ext cx="6474460" cy="14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 err="1"/>
              <a:t>Name: MUKAKALISA</a:t>
            </a:r>
            <a:r>
              <a:rPr lang="en-GB" sz="2600" b="1" dirty="0"/>
              <a:t> Diane</a:t>
            </a:r>
            <a:endParaRPr lang="en-GB" sz="2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/>
              <a:t>Institution: Gender Monitoring Office</a:t>
            </a:r>
            <a:endParaRPr lang="en-GB" sz="2600" b="1" dirty="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47775" y="4229810"/>
            <a:ext cx="7157726" cy="67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48615" y="52705"/>
            <a:ext cx="8145780" cy="480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Description &amp; Objectives</a:t>
            </a:r>
            <a:endParaRPr lang="en-GB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254635" y="533400"/>
            <a:ext cx="8837930" cy="43628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500" b="1" dirty="0"/>
              <a:t>Problem definition</a:t>
            </a:r>
            <a:endParaRPr 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altLang="en-US" sz="1500" dirty="0"/>
              <a:t>GMO</a:t>
            </a:r>
            <a:r>
              <a:rPr lang="en-US" altLang="en-GB" sz="1500" dirty="0"/>
              <a:t> faces major challenges in accessing and analyzing comprehensive data due to fragmented reporting systems and limited real-time insights. This hinders timely response, trend identification, and effective advocacy for </a:t>
            </a:r>
            <a:r>
              <a:rPr lang="en-US" altLang="en-GB" sz="1500" dirty="0" smtClean="0"/>
              <a:t>victim-centered</a:t>
            </a:r>
            <a:r>
              <a:rPr lang="en-US" altLang="en-GB" sz="1500" dirty="0" smtClean="0"/>
              <a:t> </a:t>
            </a:r>
            <a:r>
              <a:rPr lang="en-US" altLang="en-GB" sz="1500" dirty="0"/>
              <a:t>policies.</a:t>
            </a:r>
            <a:endParaRPr lang="en-US" alt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altLang="en-US" sz="1500" b="1" dirty="0"/>
              <a:t>Proposed solution</a:t>
            </a:r>
            <a:r>
              <a:rPr lang="en-GB" altLang="en-US" sz="1500" dirty="0" smtClean="0"/>
              <a:t>: </a:t>
            </a:r>
            <a:r>
              <a:rPr lang="en-US" altLang="en-GB" sz="1500" dirty="0" smtClean="0"/>
              <a:t>To </a:t>
            </a:r>
            <a:r>
              <a:rPr lang="en-US" altLang="en-GB" sz="1500" dirty="0"/>
              <a:t>develop and implement a digital dashboard that integrates, analyzes, and visualizes GBV data, enabling GMO to generate timely insights and enhance evidence-based advocacy, coordination, and policy decision-making</a:t>
            </a:r>
            <a:endParaRPr lang="en-US" alt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en-GB" sz="15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500" b="1" dirty="0"/>
              <a:t>Proposed project objectives</a:t>
            </a:r>
            <a:r>
              <a:rPr lang="en-GB" sz="1500" dirty="0"/>
              <a:t>: </a:t>
            </a:r>
            <a:endParaRPr lang="en-GB" sz="1500" dirty="0"/>
          </a:p>
          <a:p>
            <a:pPr marL="8572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charset="0"/>
              <a:buChar char="§"/>
            </a:pPr>
            <a:r>
              <a:rPr sz="1500" dirty="0">
                <a:sym typeface="+mn-ea"/>
              </a:rPr>
              <a:t>Track GBV trends over time and geography</a:t>
            </a:r>
            <a:r>
              <a:rPr lang="en-GB" sz="1500" dirty="0">
                <a:sym typeface="+mn-ea"/>
              </a:rPr>
              <a:t> to provide </a:t>
            </a:r>
            <a:r>
              <a:rPr lang="en-GB" sz="1500" dirty="0" smtClean="0">
                <a:sym typeface="+mn-ea"/>
              </a:rPr>
              <a:t>a deep analysis of </a:t>
            </a:r>
            <a:r>
              <a:rPr lang="en-GB" sz="1500" dirty="0">
                <a:sym typeface="+mn-ea"/>
              </a:rPr>
              <a:t>why and </a:t>
            </a:r>
            <a:r>
              <a:rPr lang="en-GB" sz="1500" dirty="0" smtClean="0">
                <a:sym typeface="+mn-ea"/>
              </a:rPr>
              <a:t>the responsible person/institution to address the issue</a:t>
            </a:r>
            <a:endParaRPr lang="en-GB" sz="1500" dirty="0">
              <a:sym typeface="+mn-ea"/>
            </a:endParaRPr>
          </a:p>
          <a:p>
            <a:pPr marL="8572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charset="0"/>
              <a:buChar char="§"/>
            </a:pPr>
            <a:r>
              <a:rPr lang="en-GB" sz="1500" dirty="0">
                <a:sym typeface="+mn-ea"/>
              </a:rPr>
              <a:t>Keep track of </a:t>
            </a:r>
            <a:r>
              <a:rPr lang="en-GB" sz="1500" dirty="0" smtClean="0">
                <a:sym typeface="+mn-ea"/>
              </a:rPr>
              <a:t>the victims </a:t>
            </a:r>
            <a:r>
              <a:rPr lang="en-GB" sz="1500" dirty="0">
                <a:sym typeface="+mn-ea"/>
              </a:rPr>
              <a:t>cases</a:t>
            </a:r>
            <a:endParaRPr lang="en-GB" sz="1500" dirty="0">
              <a:sym typeface="+mn-ea"/>
            </a:endParaRPr>
          </a:p>
          <a:p>
            <a:pPr marL="8572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charset="0"/>
              <a:buChar char="§"/>
            </a:pPr>
            <a:r>
              <a:rPr sz="1500" dirty="0">
                <a:sym typeface="+mn-ea"/>
              </a:rPr>
              <a:t>Compare reporting, investigation, and conviction rates</a:t>
            </a:r>
            <a:endParaRPr sz="1500" dirty="0">
              <a:sym typeface="+mn-ea"/>
            </a:endParaRPr>
          </a:p>
          <a:p>
            <a:pPr marL="857250" lvl="0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charset="0"/>
              <a:buChar char="§"/>
            </a:pPr>
            <a:r>
              <a:rPr sz="1500" dirty="0">
                <a:sym typeface="+mn-ea"/>
              </a:rPr>
              <a:t>Provide disaggregated data by age, gender</a:t>
            </a:r>
            <a:r>
              <a:rPr sz="1500" dirty="0" smtClean="0">
                <a:sym typeface="+mn-ea"/>
              </a:rPr>
              <a:t>,</a:t>
            </a:r>
            <a:r>
              <a:rPr lang="en-GB" sz="1500" dirty="0" smtClean="0">
                <a:sym typeface="+mn-ea"/>
              </a:rPr>
              <a:t> type </a:t>
            </a:r>
            <a:r>
              <a:rPr lang="en-GB" sz="1500" dirty="0">
                <a:sym typeface="+mn-ea"/>
              </a:rPr>
              <a:t>of violence</a:t>
            </a:r>
            <a:r>
              <a:rPr lang="en-GB" sz="1500" dirty="0" smtClean="0">
                <a:sym typeface="+mn-ea"/>
              </a:rPr>
              <a:t>, history </a:t>
            </a:r>
            <a:r>
              <a:rPr lang="en-GB" sz="1500" dirty="0">
                <a:sym typeface="+mn-ea"/>
              </a:rPr>
              <a:t>about the victims</a:t>
            </a:r>
            <a:r>
              <a:rPr sz="1500" dirty="0">
                <a:sym typeface="+mn-ea"/>
              </a:rPr>
              <a:t> and location</a:t>
            </a:r>
            <a:r>
              <a:rPr lang="en-GB" sz="1500" dirty="0">
                <a:sym typeface="+mn-ea"/>
              </a:rPr>
              <a:t>(Districts) where GBV frequently </a:t>
            </a:r>
            <a:r>
              <a:rPr lang="en-GB" sz="1500" dirty="0" smtClean="0">
                <a:sym typeface="+mn-ea"/>
              </a:rPr>
              <a:t>happens </a:t>
            </a:r>
            <a:endParaRPr sz="1500" dirty="0">
              <a:sym typeface="+mn-ea"/>
            </a:endParaRPr>
          </a:p>
          <a:p>
            <a:pPr marL="5715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en-GB" sz="15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GB" altLang="en-US"/>
              <a:t>Variables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GB" altLang="en-US"/>
              <a:t>Date</a:t>
            </a:r>
            <a:endParaRPr lang="en-GB" altLang="en-US"/>
          </a:p>
          <a:p>
            <a:r>
              <a:rPr lang="en-GB" altLang="en-US"/>
              <a:t>District</a:t>
            </a:r>
            <a:endParaRPr lang="en-GB" altLang="en-US"/>
          </a:p>
          <a:p>
            <a:r>
              <a:rPr lang="en-GB" altLang="en-US"/>
              <a:t>age</a:t>
            </a:r>
            <a:endParaRPr lang="en-GB" altLang="en-US"/>
          </a:p>
          <a:p>
            <a:r>
              <a:rPr lang="en-GB" altLang="en-US"/>
              <a:t>sex</a:t>
            </a:r>
            <a:endParaRPr lang="en-GB" altLang="en-US"/>
          </a:p>
          <a:p>
            <a:r>
              <a:rPr lang="en-GB" altLang="en-US"/>
              <a:t>type of violence</a:t>
            </a:r>
            <a:endParaRPr lang="en-GB" altLang="en-US"/>
          </a:p>
          <a:p>
            <a:r>
              <a:rPr lang="en-GB" altLang="en-US"/>
              <a:t>Chanel used</a:t>
            </a:r>
            <a:endParaRPr lang="en-GB" altLang="en-US"/>
          </a:p>
          <a:p>
            <a:r>
              <a:rPr lang="en-GB" altLang="en-US"/>
              <a:t>sector</a:t>
            </a:r>
            <a:endParaRPr lang="en-GB" altLang="en-US"/>
          </a:p>
          <a:p>
            <a:r>
              <a:rPr lang="en-GB" altLang="en-US"/>
              <a:t>Case summary</a:t>
            </a:r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GB" altLang="en-US"/>
              <a:t>Dashboard content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pPr marL="114300" indent="0">
              <a:buNone/>
            </a:pPr>
            <a:r>
              <a:rPr lang="en-GB" altLang="en-US" dirty="0">
                <a:sym typeface="+mn-ea"/>
              </a:rPr>
              <a:t>The dashboard may display:</a:t>
            </a:r>
            <a:endParaRPr lang="en-US" altLang="en-GB" dirty="0">
              <a:sym typeface="+mn-ea"/>
            </a:endParaRPr>
          </a:p>
          <a:p>
            <a:r>
              <a:rPr lang="en-US" altLang="en-GB" dirty="0">
                <a:sym typeface="+mn-ea"/>
              </a:rPr>
              <a:t>GBV Trends Over Time</a:t>
            </a:r>
            <a:endParaRPr lang="en-US" altLang="en-GB" dirty="0">
              <a:sym typeface="+mn-ea"/>
            </a:endParaRPr>
          </a:p>
          <a:p>
            <a:r>
              <a:rPr lang="en-US" altLang="en-GB" dirty="0">
                <a:sym typeface="+mn-ea"/>
              </a:rPr>
              <a:t>Geographical Distribution</a:t>
            </a:r>
            <a:r>
              <a:rPr lang="en-GB" altLang="en-US" dirty="0">
                <a:sym typeface="+mn-ea"/>
              </a:rPr>
              <a:t> (</a:t>
            </a:r>
            <a:r>
              <a:rPr lang="en-US" altLang="en-GB" dirty="0">
                <a:sym typeface="+mn-ea"/>
              </a:rPr>
              <a:t>maps/heatmaps of GBV cases by district</a:t>
            </a:r>
            <a:r>
              <a:rPr lang="en-GB" altLang="en-US" dirty="0">
                <a:sym typeface="+mn-ea"/>
              </a:rPr>
              <a:t>)</a:t>
            </a:r>
            <a:endParaRPr lang="en-GB" altLang="en-US" dirty="0">
              <a:sym typeface="+mn-ea"/>
            </a:endParaRPr>
          </a:p>
          <a:p>
            <a:r>
              <a:rPr lang="en-US" altLang="en-GB" dirty="0">
                <a:sym typeface="+mn-ea"/>
              </a:rPr>
              <a:t>Disaggregated Data</a:t>
            </a:r>
            <a:r>
              <a:rPr lang="en-GB" altLang="en-US" dirty="0">
                <a:sym typeface="+mn-ea"/>
              </a:rPr>
              <a:t> by sex and age</a:t>
            </a:r>
            <a:endParaRPr lang="en-US" altLang="en-GB" dirty="0">
              <a:sym typeface="+mn-ea"/>
            </a:endParaRPr>
          </a:p>
          <a:p>
            <a:r>
              <a:rPr lang="en-US" altLang="en-GB" dirty="0">
                <a:sym typeface="+mn-ea"/>
              </a:rPr>
              <a:t>Types of Violence</a:t>
            </a:r>
            <a:endParaRPr lang="en-US" altLang="en-GB" dirty="0">
              <a:sym typeface="+mn-ea"/>
            </a:endParaRPr>
          </a:p>
          <a:p>
            <a:r>
              <a:rPr lang="en-US" altLang="en-GB" dirty="0">
                <a:sym typeface="+mn-ea"/>
              </a:rPr>
              <a:t>Case Progress Tracking</a:t>
            </a:r>
            <a:r>
              <a:rPr lang="en-GB" altLang="en-US" dirty="0">
                <a:sym typeface="+mn-ea"/>
              </a:rPr>
              <a:t> (</a:t>
            </a:r>
            <a:r>
              <a:rPr lang="en-US" altLang="en-GB" dirty="0">
                <a:sym typeface="+mn-ea"/>
              </a:rPr>
              <a:t>Number of cases reported</a:t>
            </a:r>
            <a:r>
              <a:rPr lang="en-GB" altLang="en-US" dirty="0">
                <a:sym typeface="+mn-ea"/>
              </a:rPr>
              <a:t>, referred and status)</a:t>
            </a:r>
            <a:endParaRPr lang="en-GB" altLang="en-US" dirty="0">
              <a:sym typeface="+mn-ea"/>
            </a:endParaRPr>
          </a:p>
          <a:p>
            <a:endParaRPr lang="en-GB" altLang="en-US" dirty="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r>
              <a:rPr dirty="0">
                <a:sym typeface="+mn-ea"/>
              </a:rPr>
              <a:t>Descriptive analytics to identify GBV trends</a:t>
            </a:r>
            <a:endParaRPr dirty="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r>
              <a:rPr dirty="0">
                <a:sym typeface="+mn-ea"/>
              </a:rPr>
              <a:t>Time series plots and </a:t>
            </a:r>
            <a:r>
              <a:rPr dirty="0" err="1">
                <a:sym typeface="+mn-ea"/>
              </a:rPr>
              <a:t>heatmaps</a:t>
            </a:r>
            <a:r>
              <a:rPr dirty="0">
                <a:sym typeface="+mn-ea"/>
              </a:rPr>
              <a:t> by location/type of violence</a:t>
            </a:r>
            <a:endParaRPr dirty="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r>
              <a:rPr dirty="0">
                <a:sym typeface="+mn-ea"/>
              </a:rPr>
              <a:t>Predictive analysis using machine learning to flag high-risk zones</a:t>
            </a:r>
            <a:endParaRPr dirty="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endParaRPr dirty="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endParaRPr dirty="0">
              <a:sym typeface="+mn-ea"/>
            </a:endParaRPr>
          </a:p>
          <a:p>
            <a:endParaRPr lang="en-GB" altLang="en-US" dirty="0">
              <a:sym typeface="+mn-ea"/>
            </a:endParaRPr>
          </a:p>
          <a:p>
            <a:endParaRPr lang="en-GB" altLang="en-US" dirty="0">
              <a:sym typeface="+mn-ea"/>
            </a:endParaRPr>
          </a:p>
          <a:p>
            <a:pPr marL="114300" indent="0">
              <a:buNone/>
            </a:pPr>
            <a:r>
              <a:rPr lang="en-US" altLang="en-GB" b="1" dirty="0">
                <a:sym typeface="+mn-ea"/>
              </a:rPr>
              <a:t>The dashboard will visualize where, when, and what type of GBV cases happen, and</a:t>
            </a:r>
            <a:r>
              <a:rPr lang="en-GB" altLang="en-US" b="1" dirty="0">
                <a:sym typeface="+mn-ea"/>
              </a:rPr>
              <a:t> case status</a:t>
            </a:r>
            <a:endParaRPr lang="en-GB" altLang="en-US" dirty="0">
              <a:sym typeface="+mn-ea"/>
            </a:endParaRPr>
          </a:p>
          <a:p>
            <a:endParaRPr lang="en-US" altLang="en-GB" dirty="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Items that the dashboard will display</a:t>
            </a:r>
            <a:endParaRPr lang="en-GB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95165" y="101778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ü"/>
            </a:pPr>
            <a:r>
              <a:rPr lang="en-US" altLang="en-GB" dirty="0">
                <a:sym typeface="+mn-ea"/>
              </a:rPr>
              <a:t>GBV Trends Over Time</a:t>
            </a:r>
            <a:endParaRPr lang="en-US" altLang="en-GB" dirty="0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ü"/>
            </a:pPr>
            <a:r>
              <a:rPr lang="en-US" altLang="en-GB" dirty="0">
                <a:sym typeface="+mn-ea"/>
              </a:rPr>
              <a:t>Geographical Distribution</a:t>
            </a:r>
            <a:r>
              <a:rPr lang="en-GB" altLang="en-US" dirty="0">
                <a:sym typeface="+mn-ea"/>
              </a:rPr>
              <a:t> (</a:t>
            </a:r>
            <a:r>
              <a:rPr lang="en-US" altLang="en-GB" dirty="0">
                <a:sym typeface="+mn-ea"/>
              </a:rPr>
              <a:t>maps/heatmaps of GBV cases by district</a:t>
            </a:r>
            <a:r>
              <a:rPr lang="en-GB" altLang="en-US" dirty="0">
                <a:sym typeface="+mn-ea"/>
              </a:rPr>
              <a:t>)</a:t>
            </a:r>
            <a:endParaRPr lang="en-GB" altLang="en-US" dirty="0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ü"/>
            </a:pPr>
            <a:r>
              <a:rPr lang="en-US" altLang="en-GB" dirty="0">
                <a:sym typeface="+mn-ea"/>
              </a:rPr>
              <a:t>Disaggregated Data</a:t>
            </a:r>
            <a:r>
              <a:rPr lang="en-GB" altLang="en-US" dirty="0">
                <a:sym typeface="+mn-ea"/>
              </a:rPr>
              <a:t> (</a:t>
            </a:r>
            <a:r>
              <a:rPr lang="en-US" altLang="en-GB" dirty="0">
                <a:sym typeface="+mn-ea"/>
              </a:rPr>
              <a:t>Victim Profiles </a:t>
            </a:r>
            <a:r>
              <a:rPr lang="en-GB" altLang="en-US" dirty="0">
                <a:sym typeface="+mn-ea"/>
              </a:rPr>
              <a:t>)</a:t>
            </a:r>
            <a:endParaRPr lang="en-GB" altLang="en-US" dirty="0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ü"/>
            </a:pPr>
            <a:r>
              <a:rPr lang="en-US" altLang="en-GB" dirty="0">
                <a:sym typeface="+mn-ea"/>
              </a:rPr>
              <a:t>Types of Violence</a:t>
            </a:r>
            <a:endParaRPr lang="en-US" altLang="en-GB" dirty="0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ü"/>
            </a:pPr>
            <a:r>
              <a:rPr lang="en-US" altLang="en-GB" dirty="0">
                <a:sym typeface="+mn-ea"/>
              </a:rPr>
              <a:t>Case Progress Tracking</a:t>
            </a:r>
            <a:r>
              <a:rPr lang="en-GB" altLang="en-US" dirty="0">
                <a:sym typeface="+mn-ea"/>
              </a:rPr>
              <a:t> (</a:t>
            </a:r>
            <a:r>
              <a:rPr lang="en-US" altLang="en-GB" dirty="0">
                <a:sym typeface="+mn-ea"/>
              </a:rPr>
              <a:t>Number of cases reported, investigated, prosecuted, convicted</a:t>
            </a:r>
            <a:r>
              <a:rPr lang="en-GB" altLang="en-US" dirty="0">
                <a:sym typeface="+mn-ea"/>
              </a:rPr>
              <a:t>)</a:t>
            </a:r>
            <a:endParaRPr lang="en-GB" altLang="en-US" dirty="0"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None/>
            </a:pPr>
            <a:r>
              <a:rPr lang="en-US" altLang="en-GB" b="1" dirty="0">
                <a:sym typeface="+mn-ea"/>
              </a:rPr>
              <a:t>The dashboard will visualize who, where, when, and what type of GBV cases happen, and how justice progresses.</a:t>
            </a:r>
            <a:endParaRPr lang="en-US" altLang="en-GB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820" y="739775"/>
            <a:ext cx="9015730" cy="40386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endParaRPr lang="en-GB" altLang="en-US" sz="1600" dirty="0"/>
          </a:p>
          <a:p>
            <a:pPr>
              <a:buFont typeface="Wingdings" panose="05000000000000000000" charset="0"/>
              <a:buChar char="Ø"/>
            </a:pPr>
            <a:r>
              <a:rPr lang="en-US" altLang="en-GB" sz="1600" dirty="0"/>
              <a:t>Case Reporting Data</a:t>
            </a:r>
            <a:r>
              <a:rPr lang="en-GB" altLang="en-US" sz="1600" dirty="0"/>
              <a:t> (</a:t>
            </a:r>
            <a:r>
              <a:rPr lang="en-US" altLang="en-GB" sz="1600" dirty="0"/>
              <a:t>Date of case report (for trends)</a:t>
            </a:r>
            <a:r>
              <a:rPr lang="en-GB" altLang="en-US" sz="1600" dirty="0"/>
              <a:t>,</a:t>
            </a:r>
            <a:r>
              <a:rPr lang="en-US" altLang="en-GB" sz="1600" dirty="0"/>
              <a:t>Type of violence </a:t>
            </a:r>
            <a:r>
              <a:rPr lang="en-GB" altLang="en-US" sz="1600" dirty="0"/>
              <a:t>and </a:t>
            </a:r>
            <a:r>
              <a:rPr lang="en-US" altLang="en-GB" sz="1600" dirty="0"/>
              <a:t>Location (district/sector)</a:t>
            </a:r>
            <a:r>
              <a:rPr lang="en-GB" altLang="en-US" sz="1600" dirty="0"/>
              <a:t>)</a:t>
            </a:r>
            <a:endParaRPr lang="en-GB" altLang="en-US" sz="1600" dirty="0"/>
          </a:p>
          <a:p>
            <a:pPr>
              <a:buFont typeface="Wingdings" panose="05000000000000000000" charset="0"/>
              <a:buChar char="Ø"/>
            </a:pPr>
            <a:r>
              <a:rPr lang="en-US" altLang="en-GB" sz="1600" dirty="0"/>
              <a:t>Victim Information</a:t>
            </a:r>
            <a:endParaRPr lang="en-GB" altLang="en-US" sz="1600" dirty="0"/>
          </a:p>
          <a:p>
            <a:pPr>
              <a:buFont typeface="Wingdings" panose="05000000000000000000" charset="0"/>
              <a:buChar char="Ø"/>
            </a:pPr>
            <a:r>
              <a:rPr lang="en-US" altLang="en-GB" sz="1600" dirty="0"/>
              <a:t>Case Progression Data</a:t>
            </a:r>
            <a:endParaRPr lang="en-GB" altLang="en-US" sz="1600" dirty="0"/>
          </a:p>
          <a:p>
            <a:pPr>
              <a:buFont typeface="Wingdings" panose="05000000000000000000" charset="0"/>
              <a:buChar char="Ø"/>
            </a:pPr>
            <a:endParaRPr lang="en-US" altLang="en-GB" sz="1600" dirty="0"/>
          </a:p>
          <a:p>
            <a:pPr marL="114300" indent="0">
              <a:buNone/>
            </a:pPr>
            <a:r>
              <a:rPr lang="en-GB" sz="1600" b="1" dirty="0">
                <a:sym typeface="+mn-ea"/>
              </a:rPr>
              <a:t>Source</a:t>
            </a:r>
            <a:r>
              <a:rPr sz="1600" b="1" dirty="0">
                <a:sym typeface="+mn-ea"/>
              </a:rPr>
              <a:t>:</a:t>
            </a:r>
            <a:r>
              <a:rPr lang="en-GB" sz="1600" b="1" dirty="0">
                <a:sym typeface="+mn-ea"/>
              </a:rPr>
              <a:t> GMO</a:t>
            </a:r>
            <a:endParaRPr sz="1600" b="1" dirty="0">
              <a:sym typeface="+mn-ea"/>
            </a:endParaRPr>
          </a:p>
          <a:p>
            <a:pPr marL="114300" indent="0">
              <a:buNone/>
            </a:pPr>
            <a:endParaRPr sz="1600" b="1" dirty="0">
              <a:sym typeface="+mn-ea"/>
            </a:endParaRPr>
          </a:p>
          <a:p>
            <a:pPr marL="114300" indent="0">
              <a:buNone/>
            </a:pPr>
            <a:r>
              <a:rPr sz="1600" b="1" dirty="0">
                <a:sym typeface="+mn-ea"/>
              </a:rPr>
              <a:t>Period &amp; Time Resolution:</a:t>
            </a:r>
            <a:endParaRPr sz="1600" b="1" dirty="0">
              <a:sym typeface="+mn-ea"/>
            </a:endParaRPr>
          </a:p>
          <a:p>
            <a:pPr marL="114300" indent="0">
              <a:buNone/>
            </a:pPr>
            <a:r>
              <a:rPr sz="1600" dirty="0">
                <a:sym typeface="+mn-ea"/>
              </a:rPr>
              <a:t>- </a:t>
            </a:r>
            <a:r>
              <a:rPr lang="en-GB" sz="1600" dirty="0">
                <a:sym typeface="+mn-ea"/>
              </a:rPr>
              <a:t> Q</a:t>
            </a:r>
            <a:r>
              <a:rPr lang="en-US" altLang="en-GB" sz="1600" dirty="0">
                <a:sym typeface="+mn-ea"/>
              </a:rPr>
              <a:t>uarterly GBV case records from 20</a:t>
            </a:r>
            <a:r>
              <a:rPr lang="en-GB" altLang="en-US" sz="1600" dirty="0">
                <a:sym typeface="+mn-ea"/>
              </a:rPr>
              <a:t>20</a:t>
            </a:r>
            <a:r>
              <a:rPr lang="en-US" altLang="en-GB" sz="1600" dirty="0">
                <a:sym typeface="+mn-ea"/>
              </a:rPr>
              <a:t>–2025</a:t>
            </a:r>
            <a:r>
              <a:rPr sz="1600" dirty="0">
                <a:sym typeface="+mn-ea"/>
              </a:rPr>
              <a:t> </a:t>
            </a:r>
            <a:r>
              <a:rPr lang="en-GB" sz="1600" dirty="0">
                <a:sym typeface="+mn-ea"/>
              </a:rPr>
              <a:t>a</a:t>
            </a:r>
            <a:r>
              <a:rPr sz="1600" dirty="0" err="1">
                <a:sym typeface="+mn-ea"/>
              </a:rPr>
              <a:t>ggregated</a:t>
            </a:r>
            <a:r>
              <a:rPr sz="1600" dirty="0">
                <a:sym typeface="+mn-ea"/>
              </a:rPr>
              <a:t> at district  level</a:t>
            </a:r>
            <a:endParaRPr lang="en-GB" altLang="en-US" sz="1600" dirty="0">
              <a:sym typeface="+mn-ea"/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>
          <a:xfrm>
            <a:off x="311700" y="131870"/>
            <a:ext cx="8520600" cy="607800"/>
          </a:xfrm>
        </p:spPr>
        <p:txBody>
          <a:bodyPr>
            <a:normAutofit fontScale="90000"/>
          </a:bodyPr>
          <a:p>
            <a:r>
              <a:rPr lang="en-US" altLang="en-GB"/>
              <a:t>Specific data needed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850" y="219500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GB" altLang="en-US"/>
              <a:t>METHODOLOGY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q"/>
            </a:pPr>
            <a:r>
              <a:rPr dirty="0">
                <a:sym typeface="+mn-ea"/>
              </a:rPr>
              <a:t>Descriptive analytics to identify GBV trends</a:t>
            </a:r>
            <a:endParaRPr dirty="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r>
              <a:rPr dirty="0">
                <a:sym typeface="+mn-ea"/>
              </a:rPr>
              <a:t>Time series plots and </a:t>
            </a:r>
            <a:r>
              <a:rPr dirty="0" err="1">
                <a:sym typeface="+mn-ea"/>
              </a:rPr>
              <a:t>heatmaps</a:t>
            </a:r>
            <a:r>
              <a:rPr dirty="0">
                <a:sym typeface="+mn-ea"/>
              </a:rPr>
              <a:t> by location/type of violence</a:t>
            </a:r>
            <a:endParaRPr dirty="0">
              <a:sym typeface="+mn-ea"/>
            </a:endParaRPr>
          </a:p>
          <a:p>
            <a:pPr>
              <a:buFont typeface="Wingdings" panose="05000000000000000000" charset="0"/>
              <a:buChar char="q"/>
            </a:pPr>
            <a:r>
              <a:rPr dirty="0">
                <a:solidFill>
                  <a:srgbClr val="FF0000"/>
                </a:solidFill>
                <a:sym typeface="+mn-ea"/>
              </a:rPr>
              <a:t>Predictive analysis using machine learning to flag high-risk zones</a:t>
            </a:r>
            <a:endParaRPr dirty="0">
              <a:solidFill>
                <a:srgbClr val="FF0000"/>
              </a:solidFill>
              <a:sym typeface="+mn-ea"/>
            </a:endParaRPr>
          </a:p>
          <a:p>
            <a:pPr marL="114300" indent="0">
              <a:buFont typeface="Wingdings" panose="05000000000000000000" charset="0"/>
              <a:buNone/>
            </a:pPr>
            <a:endParaRPr dirty="0">
              <a:sym typeface="+mn-ea"/>
            </a:endParaRPr>
          </a:p>
          <a:p>
            <a:pPr marL="114300" indent="0">
              <a:buNone/>
            </a:pPr>
            <a:r>
              <a:rPr b="1" dirty="0">
                <a:sym typeface="+mn-ea"/>
              </a:rPr>
              <a:t>Tools and Frameworks:</a:t>
            </a:r>
            <a:r>
              <a:rPr lang="en-GB" b="1" dirty="0">
                <a:sym typeface="+mn-ea"/>
              </a:rPr>
              <a:t> </a:t>
            </a:r>
            <a:endParaRPr lang="en-GB" b="1" dirty="0">
              <a:sym typeface="+mn-ea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dirty="0">
                <a:sym typeface="+mn-ea"/>
              </a:rPr>
              <a:t>Python and its libraries </a:t>
            </a:r>
            <a:endParaRPr lang="en-GB" dirty="0">
              <a:sym typeface="+mn-ea"/>
            </a:endParaRPr>
          </a:p>
          <a:p>
            <a:pPr marL="114300" indent="0">
              <a:buFont typeface="Wingdings" panose="05000000000000000000" charset="0"/>
              <a:buNone/>
            </a:pPr>
            <a:r>
              <a:rPr lang="en-GB" dirty="0">
                <a:sym typeface="+mn-ea"/>
              </a:rPr>
              <a:t>(</a:t>
            </a:r>
            <a:r>
              <a:rPr lang="en-US" altLang="en-GB" dirty="0">
                <a:sym typeface="+mn-ea"/>
              </a:rPr>
              <a:t>pandas for data manipulation</a:t>
            </a:r>
            <a:r>
              <a:rPr lang="en-GB" altLang="en-US" dirty="0">
                <a:sym typeface="+mn-ea"/>
              </a:rPr>
              <a:t>; </a:t>
            </a:r>
            <a:r>
              <a:rPr lang="en-US" altLang="en-GB" dirty="0">
                <a:sym typeface="+mn-ea"/>
              </a:rPr>
              <a:t>matplotlib, seaborn, plotly for visualization</a:t>
            </a:r>
            <a:r>
              <a:rPr lang="en-GB" altLang="en-US" dirty="0">
                <a:sym typeface="+mn-ea"/>
              </a:rPr>
              <a:t>; </a:t>
            </a:r>
            <a:r>
              <a:rPr lang="en-US" altLang="en-GB" dirty="0">
                <a:sym typeface="+mn-ea"/>
              </a:rPr>
              <a:t>Dash or Streamlit for dashboard development</a:t>
            </a:r>
            <a:r>
              <a:rPr lang="en-GB" altLang="en-US" dirty="0">
                <a:sym typeface="+mn-ea"/>
              </a:rPr>
              <a:t>, </a:t>
            </a:r>
            <a:r>
              <a:rPr lang="en-US" altLang="en-GB" dirty="0">
                <a:sym typeface="+mn-ea"/>
              </a:rPr>
              <a:t>geopandas for geospatial mapping</a:t>
            </a:r>
            <a:r>
              <a:rPr lang="en-GB" altLang="en-US" dirty="0">
                <a:sym typeface="+mn-ea"/>
              </a:rPr>
              <a:t>)</a:t>
            </a:r>
            <a:endParaRPr lang="en-US" altLang="en-GB" dirty="0">
              <a:sym typeface="+mn-ea"/>
            </a:endParaRPr>
          </a:p>
          <a:p>
            <a:pPr marL="114300" indent="0">
              <a:buNone/>
            </a:pPr>
            <a:endParaRPr lang="en-GB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Expected Outputs/Product </a:t>
            </a:r>
            <a:endParaRPr lang="en-GB"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v"/>
            </a:pPr>
            <a:r>
              <a:rPr>
                <a:sym typeface="+mn-ea"/>
              </a:rPr>
              <a:t>Web-based GBV Monitoring Dashboard </a:t>
            </a:r>
            <a:endParaRPr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v"/>
            </a:pPr>
            <a:r>
              <a:rPr lang="en-GB" smtClean="0">
                <a:sym typeface="+mn-ea"/>
              </a:rPr>
              <a:t>API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sz="8000" dirty="0" smtClean="0"/>
              <a:t>   Thank you!</a:t>
            </a:r>
            <a:endParaRPr lang="en-GB" sz="8000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2715</Words>
  <Application>WPS Presentation</Application>
  <PresentationFormat>On-screen Show (16:9)</PresentationFormat>
  <Paragraphs>89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</vt:lpstr>
      <vt:lpstr>Roboto</vt:lpstr>
      <vt:lpstr>Wingdings</vt:lpstr>
      <vt:lpstr>Microsoft YaHei</vt:lpstr>
      <vt:lpstr>Arial Unicode MS</vt:lpstr>
      <vt:lpstr>Geometric</vt:lpstr>
      <vt:lpstr>Interactive Gender Based Violence Monitoring Dashboard</vt:lpstr>
      <vt:lpstr>Project Description &amp; Objectives</vt:lpstr>
      <vt:lpstr>PowerPoint 演示文稿</vt:lpstr>
      <vt:lpstr>PowerPoint 演示文稿</vt:lpstr>
      <vt:lpstr>Items that the dashboard will display</vt:lpstr>
      <vt:lpstr>Specific data needed</vt:lpstr>
      <vt:lpstr>METHODOLOGY</vt:lpstr>
      <vt:lpstr>Expected Outputs/Product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Gender Based Violence Monitoring Dashboard</dc:title>
  <dc:creator>user</dc:creator>
  <cp:lastModifiedBy>MUKAKALISA DIANE</cp:lastModifiedBy>
  <cp:revision>12</cp:revision>
  <dcterms:created xsi:type="dcterms:W3CDTF">2025-08-01T18:34:00Z</dcterms:created>
  <dcterms:modified xsi:type="dcterms:W3CDTF">2025-11-07T13:45:33Z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3301EB5A65304CA18610903867415EFB_13</vt:lpwstr>
  </property>
  <property fmtid="{D5CDD505-2E9C-101B-9397-08002B2CF9AE}" pid="3" name="KSOProductBuildVer">
    <vt:lpwstr>2057-12.2.0.23131</vt:lpwstr>
  </property>
</Properties>
</file>